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Ojos means 'two eyes'. One eye is a satellite that watches every field for free. The other is a drone, used only where it's needed. The farmer never opens an app: everything comes by text message, in Spanish or English. Add your name and the event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Water: watering at the wrong time wastes money or hurts the crop. Size: nobody can walk every acre every week. Tools: most agriculture technology assumes an app, a login and English. Text messages are the one tool every farmer already uses.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satellite is the everyday eye: it covers every field for free, and most farmers will only ever use this. The drone is the zoom lens, called in when something needs a closer look. Both feed into the same thing: a plain text message.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all automatic. The key idea in step 2: we never judge a field against someone else's. Soils and varieties differ, so the only fair comparison is the field's own history. Step 3 is just bookkeeping: water in, water out. The drone and the thermal camera are extras on 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corn field. The green line is this year. The grey band is what this field normally does at this time of year. When the line drops below the band, the field is doing worse than it usually does. That's the signal to pay attention.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soil like a bank account for water. Rain and irrigation are deposits. Every hot day is a withdrawal. When the balance gets low enough to hurt the crop, we tell the farmer to water, and roughly how much. The dotted line on the chart is what happens if it doesn't rain.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demo. Juan, Maria and Pedro are made-up farmers, but their fields are real fields from public USDA maps, and the satellite and weather data behind their answers are real. Maria and Pedro grow grain sorghum. Every message you'll see was produced by the working system, not typed into the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Juan texts 'hola'. After his name and consent, he picks what he wants to use. Option 1 needs nothing: satellite only. He picks 3, so the system warns him, honestly, that flying a drone needs a $175 FAA licence, and that it's his choice. Then it asks about each field, one question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an alert arrives on its own: the cotton will need water in a day. Juan texts AGUA, water, and gets both fields: how many days of water are left, a range because weather is uncertain, the date to water by, and about how many inches. The English under each bubble is what an English-speaking farmer would get.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answer ends with an offer: want to know why? Reply PORQUE and you get a link to one page. It repeats the same answer, then shows the four steps with the field's own numbers: how much water the soil holds, what went in, what the sun took out, what's left. The charts are inside the file, so it works even without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sorghum growers. Maria farms dryland near Elsa. Every week while it matters she gets a reminder to scout, and when she asks ETAPA she hears where her crop is: flowering, day 69, what comes next and when, and what to look for right now. Pedro, near Primera, counted 21 plants with aphids out of 80: 26%, close to the 30% threshold for his stage, so he's told to look again in a few days. Neither has a drone.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Mary, another made-up farmer, texts DRONE. Two quick questions: was the field bare, and which day did she fly. Then she gets a link to an upload page. Choose photos, and they go to the team to be processed. It doesn't matter who flew or how.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Sorghum is everywhere in the Valley, and it has had few tools of its own. Modern hybrids move with heat, not the calendar, so we add up every day's heat since planting, the way Texas A&amp;M teaches, and read off the stage. The shaded band is panicle initiation to flowering, when each head decides how many grains it will fill: that's when the water warning goes out. And because we know the stage, the aphid threshold and the midge window are the right ones for that week.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farmer does fly, the drone adds two things the satellite can't see. On the left, every stretch of row judged against the rest of the field: orange is worth a walk. On the right, the shape of the ground: blue is low, where water pools; brown is high, where water may never reach.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healthy plant cools itself, like sweating. A plant that stops, from thirst or because something is eating it, warms up, often before you can see anything. This is real data: a research field scanner ran a thermal camera over sorghum in Arizona for 84 minutes and wrote 2,719 pictures, and our software stitches them into one map of leaf temperature. Two things had to be solved: telling leaves from soil with no colour camera, and taking out the sun climbing while the camera worked. We score each warm patch using everything else we know, and we never say certain: the text always says go and look.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it lands on one page a farmer can save or forward. On the left, a field with both eyes: what the satellite says first, then the flight. On the right, a grove too small for the satellite. The page doesn't hide that, it says it, and shows what the drone found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we always get: do farmers need a licence? Only to fly, and it's a $175 exam, not thousands. The expensive one is for crop spraying, which we don't do. But nobody has to fly at all: satellite only is the default. And when a flight is worth it, one licensed pilot can serve many farms, sent by the satellite to the few fields that need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demos stop at a nice picture. We found a dataset where every tree had been measured by hand, and scored ourselves. Each dot is one tree: across is the real height, up is what the drone measured. The order is mostly right, but everything reads short. Better processing halved that error. We tell farmers what the numbers are good for, and what they're not.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next. The pest warning now runs on real thermal data, but that data is from a research farm in Arizona: the next step is a thermal camera over a Valley field. After that: a live phone number, the first farms in the Valley, and ready-made flight routes for pilots.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take questions. The sources line is there so nobody mistakes public research data for our own farms.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B24"/>
        </a:solidFill>
        <a:effectLst/>
      </p:bgPr>
    </p:bg>
    <p:spTree>
      <p:nvGrpSpPr>
        <p:cNvPr id="1" name=""/>
        <p:cNvGrpSpPr/>
        <p:nvPr/>
      </p:nvGrpSpPr>
      <p:grpSpPr/>
      <p:sp>
        <p:nvSpPr>
          <p:cNvPr id="2" name="Oval 1"/>
          <p:cNvSpPr/>
          <p:nvPr/>
        </p:nvSpPr>
        <p:spPr>
          <a:xfrm>
            <a:off x="548640" y="1143000"/>
            <a:ext cx="1234440" cy="123444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65960" y="1143000"/>
            <a:ext cx="1234440" cy="123444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97480"/>
            <a:ext cx="10515600" cy="1188720"/>
          </a:xfrm>
          <a:prstGeom prst="rect">
            <a:avLst/>
          </a:prstGeom>
          <a:noFill/>
        </p:spPr>
        <p:txBody>
          <a:bodyPr wrap="square" anchor="t" lIns="0" rIns="0" tIns="0" bIns="0">
            <a:spAutoFit/>
          </a:bodyPr>
          <a:lstStyle/>
          <a:p>
            <a:pPr algn="l">
              <a:lnSpc>
                <a:spcPct val="105000"/>
              </a:lnSpc>
              <a:spcAft>
                <a:spcPts val="0"/>
              </a:spcAft>
            </a:pPr>
            <a:r>
              <a:rPr sz="7200" b="1" i="0">
                <a:solidFill>
                  <a:srgbClr val="F2F5F1"/>
                </a:solidFill>
                <a:latin typeface="Century Schoolbook"/>
              </a:rPr>
              <a:t>Dos Ojos</a:t>
            </a:r>
          </a:p>
        </p:txBody>
      </p:sp>
      <p:sp>
        <p:nvSpPr>
          <p:cNvPr id="5" name="TextBox 4"/>
          <p:cNvSpPr txBox="1"/>
          <p:nvPr/>
        </p:nvSpPr>
        <p:spPr>
          <a:xfrm>
            <a:off x="548640" y="3840480"/>
            <a:ext cx="10515600" cy="640080"/>
          </a:xfrm>
          <a:prstGeom prst="rect">
            <a:avLst/>
          </a:prstGeom>
          <a:noFill/>
        </p:spPr>
        <p:txBody>
          <a:bodyPr wrap="square" anchor="t" lIns="0" rIns="0" tIns="0" bIns="0">
            <a:spAutoFit/>
          </a:bodyPr>
          <a:lstStyle/>
          <a:p>
            <a:pPr algn="l">
              <a:lnSpc>
                <a:spcPct val="105000"/>
              </a:lnSpc>
              <a:spcAft>
                <a:spcPts val="0"/>
              </a:spcAft>
            </a:pPr>
            <a:r>
              <a:rPr sz="3000" b="0" i="0">
                <a:solidFill>
                  <a:srgbClr val="A9B8AE"/>
                </a:solidFill>
                <a:latin typeface="Century Schoolbook"/>
              </a:rPr>
              <a:t>Two eyes on every field</a:t>
            </a:r>
          </a:p>
        </p:txBody>
      </p:sp>
      <p:sp>
        <p:nvSpPr>
          <p:cNvPr id="6" name="TextBox 5"/>
          <p:cNvSpPr txBox="1"/>
          <p:nvPr/>
        </p:nvSpPr>
        <p:spPr>
          <a:xfrm>
            <a:off x="548640" y="4617720"/>
            <a:ext cx="10607040" cy="822960"/>
          </a:xfrm>
          <a:prstGeom prst="rect">
            <a:avLst/>
          </a:prstGeom>
          <a:noFill/>
        </p:spPr>
        <p:txBody>
          <a:bodyPr wrap="square" anchor="t" lIns="0" rIns="0" tIns="0" bIns="0">
            <a:spAutoFit/>
          </a:bodyPr>
          <a:lstStyle/>
          <a:p>
            <a:pPr algn="l">
              <a:lnSpc>
                <a:spcPct val="105000"/>
              </a:lnSpc>
              <a:spcAft>
                <a:spcPts val="0"/>
              </a:spcAft>
            </a:pPr>
            <a:r>
              <a:rPr sz="2000" b="0" i="0">
                <a:solidFill>
                  <a:srgbClr val="F2F5F1"/>
                </a:solidFill>
                <a:latin typeface="Calibri"/>
              </a:rPr>
              <a:t>A text message that tells Rio Grande Valley farmers when to water, and where to look.</a:t>
            </a:r>
          </a:p>
        </p:txBody>
      </p:sp>
      <p:sp>
        <p:nvSpPr>
          <p:cNvPr id="7" name="TextBox 6"/>
          <p:cNvSpPr txBox="1"/>
          <p:nvPr/>
        </p:nvSpPr>
        <p:spPr>
          <a:xfrm>
            <a:off x="548640" y="5989320"/>
            <a:ext cx="10515600" cy="365760"/>
          </a:xfrm>
          <a:prstGeom prst="rect">
            <a:avLst/>
          </a:prstGeom>
          <a:noFill/>
        </p:spPr>
        <p:txBody>
          <a:bodyPr wrap="square" anchor="t" lIns="0" rIns="0" tIns="0" bIns="0">
            <a:spAutoFit/>
          </a:bodyPr>
          <a:lstStyle/>
          <a:p>
            <a:pPr algn="l">
              <a:lnSpc>
                <a:spcPct val="105000"/>
              </a:lnSpc>
              <a:spcAft>
                <a:spcPts val="0"/>
              </a:spcAft>
            </a:pPr>
            <a:r>
              <a:rPr sz="1300" b="0" i="0">
                <a:solidFill>
                  <a:srgbClr val="A9B8AE"/>
                </a:solidFill>
                <a:latin typeface="Calibri"/>
              </a:rPr>
              <a:t>Satellite  ·  Drone  ·  Thermal camera  ·  Text messages in Spanish and English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2</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Farmers find out too late</a:t>
            </a:r>
          </a:p>
        </p:txBody>
      </p:sp>
      <p:sp>
        <p:nvSpPr>
          <p:cNvPr id="4" name="Rounded Rectangle 3"/>
          <p:cNvSpPr/>
          <p:nvPr/>
        </p:nvSpPr>
        <p:spPr>
          <a:xfrm>
            <a:off x="548640" y="1783080"/>
            <a:ext cx="3484778" cy="4343400"/>
          </a:xfrm>
          <a:prstGeom prst="roundRect">
            <a:avLst>
              <a:gd name="adj" fmla="val 5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48840"/>
            <a:ext cx="868680" cy="868680"/>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ardrop 5"/>
          <p:cNvSpPr/>
          <p:nvPr/>
        </p:nvSpPr>
        <p:spPr>
          <a:xfrm rot="18900000">
            <a:off x="1133856" y="2377440"/>
            <a:ext cx="420624" cy="420624"/>
          </a:xfrm>
          <a:prstGeom prst="teardrop">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91840"/>
            <a:ext cx="2753258" cy="868680"/>
          </a:xfrm>
          <a:prstGeom prst="rect">
            <a:avLst/>
          </a:prstGeom>
          <a:noFill/>
        </p:spPr>
        <p:txBody>
          <a:bodyPr wrap="square" anchor="t" lIns="0" rIns="0" tIns="0" bIns="0">
            <a:spAutoFit/>
          </a:bodyPr>
          <a:lstStyle/>
          <a:p>
            <a:pPr algn="l">
              <a:lnSpc>
                <a:spcPct val="100000"/>
              </a:lnSpc>
              <a:spcAft>
                <a:spcPts val="0"/>
              </a:spcAft>
            </a:pPr>
            <a:r>
              <a:rPr sz="2400" b="1" i="0">
                <a:solidFill>
                  <a:srgbClr val="1E2B24"/>
                </a:solidFill>
                <a:latin typeface="Century Schoolbook"/>
              </a:rPr>
              <a:t>Water costs money</a:t>
            </a:r>
          </a:p>
        </p:txBody>
      </p:sp>
      <p:sp>
        <p:nvSpPr>
          <p:cNvPr id="8" name="TextBox 7"/>
          <p:cNvSpPr txBox="1"/>
          <p:nvPr/>
        </p:nvSpPr>
        <p:spPr>
          <a:xfrm>
            <a:off x="914400" y="4206240"/>
            <a:ext cx="2798978" cy="1828800"/>
          </a:xfrm>
          <a:prstGeom prst="rect">
            <a:avLst/>
          </a:prstGeom>
          <a:noFill/>
        </p:spPr>
        <p:txBody>
          <a:bodyPr wrap="square" anchor="t" lIns="0" rIns="0" tIns="0" bIns="0">
            <a:spAutoFit/>
          </a:bodyPr>
          <a:lstStyle/>
          <a:p>
            <a:pPr algn="l">
              <a:lnSpc>
                <a:spcPct val="112000"/>
              </a:lnSpc>
              <a:spcAft>
                <a:spcPts val="0"/>
              </a:spcAft>
            </a:pPr>
            <a:r>
              <a:rPr sz="1800" b="0" i="0">
                <a:solidFill>
                  <a:srgbClr val="5F6B64"/>
                </a:solidFill>
                <a:latin typeface="Calibri"/>
              </a:rPr>
              <a:t>Every watering costs water, fuel and a day's work. Too early wastes it. Too late costs the crop.</a:t>
            </a:r>
          </a:p>
        </p:txBody>
      </p:sp>
      <p:sp>
        <p:nvSpPr>
          <p:cNvPr id="9" name="Rounded Rectangle 8"/>
          <p:cNvSpPr/>
          <p:nvPr/>
        </p:nvSpPr>
        <p:spPr>
          <a:xfrm>
            <a:off x="4353458" y="1783080"/>
            <a:ext cx="3484778" cy="4343400"/>
          </a:xfrm>
          <a:prstGeom prst="roundRect">
            <a:avLst>
              <a:gd name="adj" fmla="val 5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19218" y="2148840"/>
            <a:ext cx="868680" cy="86868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2098" y="2350008"/>
            <a:ext cx="9144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84978" y="2350008"/>
            <a:ext cx="9144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67858" y="2350008"/>
            <a:ext cx="9144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19218" y="3291840"/>
            <a:ext cx="2753258" cy="868680"/>
          </a:xfrm>
          <a:prstGeom prst="rect">
            <a:avLst/>
          </a:prstGeom>
          <a:noFill/>
        </p:spPr>
        <p:txBody>
          <a:bodyPr wrap="square" anchor="t" lIns="0" rIns="0" tIns="0" bIns="0">
            <a:spAutoFit/>
          </a:bodyPr>
          <a:lstStyle/>
          <a:p>
            <a:pPr algn="l">
              <a:lnSpc>
                <a:spcPct val="100000"/>
              </a:lnSpc>
              <a:spcAft>
                <a:spcPts val="0"/>
              </a:spcAft>
            </a:pPr>
            <a:r>
              <a:rPr sz="2400" b="1" i="0">
                <a:solidFill>
                  <a:srgbClr val="1E2B24"/>
                </a:solidFill>
                <a:latin typeface="Century Schoolbook"/>
              </a:rPr>
              <a:t>Fields are too big to walk</a:t>
            </a:r>
          </a:p>
        </p:txBody>
      </p:sp>
      <p:sp>
        <p:nvSpPr>
          <p:cNvPr id="15" name="TextBox 14"/>
          <p:cNvSpPr txBox="1"/>
          <p:nvPr/>
        </p:nvSpPr>
        <p:spPr>
          <a:xfrm>
            <a:off x="4719218" y="4206240"/>
            <a:ext cx="2798978" cy="1828800"/>
          </a:xfrm>
          <a:prstGeom prst="rect">
            <a:avLst/>
          </a:prstGeom>
          <a:noFill/>
        </p:spPr>
        <p:txBody>
          <a:bodyPr wrap="square" anchor="t" lIns="0" rIns="0" tIns="0" bIns="0">
            <a:spAutoFit/>
          </a:bodyPr>
          <a:lstStyle/>
          <a:p>
            <a:pPr algn="l">
              <a:lnSpc>
                <a:spcPct val="112000"/>
              </a:lnSpc>
              <a:spcAft>
                <a:spcPts val="0"/>
              </a:spcAft>
            </a:pPr>
            <a:r>
              <a:rPr sz="1800" b="0" i="0">
                <a:solidFill>
                  <a:srgbClr val="5F6B64"/>
                </a:solidFill>
                <a:latin typeface="Calibri"/>
              </a:rPr>
              <a:t>A problem in the middle of a big field can grow for weeks before anyone sees it from the road.</a:t>
            </a:r>
          </a:p>
        </p:txBody>
      </p:sp>
      <p:sp>
        <p:nvSpPr>
          <p:cNvPr id="16" name="Rounded Rectangle 15"/>
          <p:cNvSpPr/>
          <p:nvPr/>
        </p:nvSpPr>
        <p:spPr>
          <a:xfrm>
            <a:off x="8158276" y="1783080"/>
            <a:ext cx="3484778" cy="4343400"/>
          </a:xfrm>
          <a:prstGeom prst="roundRect">
            <a:avLst>
              <a:gd name="adj" fmla="val 5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24036" y="2148840"/>
            <a:ext cx="868680" cy="86868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98356" y="2304288"/>
            <a:ext cx="310896" cy="548640"/>
          </a:xfrm>
          <a:prstGeom prst="roundRect">
            <a:avLst>
              <a:gd name="adj" fmla="val 18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24036" y="3291840"/>
            <a:ext cx="2753258" cy="868680"/>
          </a:xfrm>
          <a:prstGeom prst="rect">
            <a:avLst/>
          </a:prstGeom>
          <a:noFill/>
        </p:spPr>
        <p:txBody>
          <a:bodyPr wrap="square" anchor="t" lIns="0" rIns="0" tIns="0" bIns="0">
            <a:spAutoFit/>
          </a:bodyPr>
          <a:lstStyle/>
          <a:p>
            <a:pPr algn="l">
              <a:lnSpc>
                <a:spcPct val="100000"/>
              </a:lnSpc>
              <a:spcAft>
                <a:spcPts val="0"/>
              </a:spcAft>
            </a:pPr>
            <a:r>
              <a:rPr sz="2400" b="1" i="0">
                <a:solidFill>
                  <a:srgbClr val="1E2B24"/>
                </a:solidFill>
                <a:latin typeface="Century Schoolbook"/>
              </a:rPr>
              <a:t>The tools don't fit</a:t>
            </a:r>
          </a:p>
        </p:txBody>
      </p:sp>
      <p:sp>
        <p:nvSpPr>
          <p:cNvPr id="20" name="TextBox 19"/>
          <p:cNvSpPr txBox="1"/>
          <p:nvPr/>
        </p:nvSpPr>
        <p:spPr>
          <a:xfrm>
            <a:off x="8524036" y="4206240"/>
            <a:ext cx="2798978" cy="1828800"/>
          </a:xfrm>
          <a:prstGeom prst="rect">
            <a:avLst/>
          </a:prstGeom>
          <a:noFill/>
        </p:spPr>
        <p:txBody>
          <a:bodyPr wrap="square" anchor="t" lIns="0" rIns="0" tIns="0" bIns="0">
            <a:spAutoFit/>
          </a:bodyPr>
          <a:lstStyle/>
          <a:p>
            <a:pPr algn="l">
              <a:lnSpc>
                <a:spcPct val="112000"/>
              </a:lnSpc>
              <a:spcAft>
                <a:spcPts val="0"/>
              </a:spcAft>
            </a:pPr>
            <a:r>
              <a:rPr sz="1800" b="0" i="0">
                <a:solidFill>
                  <a:srgbClr val="5F6B64"/>
                </a:solidFill>
                <a:latin typeface="Calibri"/>
              </a:rPr>
              <a:t>Most farm software means an app, a password and a dashboard, usually in English. Every farmer already has text messages.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3</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Two eyes, one text message</a:t>
            </a:r>
          </a:p>
        </p:txBody>
      </p:sp>
      <p:sp>
        <p:nvSpPr>
          <p:cNvPr id="4" name="Oval 3"/>
          <p:cNvSpPr/>
          <p:nvPr/>
        </p:nvSpPr>
        <p:spPr>
          <a:xfrm>
            <a:off x="868680" y="1920240"/>
            <a:ext cx="2834640" cy="283464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977639" y="1920240"/>
            <a:ext cx="2834640" cy="283464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6080"/>
            <a:ext cx="2834640" cy="822960"/>
          </a:xfrm>
          <a:prstGeom prst="rect">
            <a:avLst/>
          </a:prstGeom>
          <a:noFill/>
        </p:spPr>
        <p:txBody>
          <a:bodyPr wrap="square" anchor="ctr" lIns="0" rIns="0" tIns="0" bIns="0">
            <a:spAutoFit/>
          </a:bodyPr>
          <a:lstStyle/>
          <a:p>
            <a:pPr algn="ctr">
              <a:lnSpc>
                <a:spcPct val="105000"/>
              </a:lnSpc>
              <a:spcAft>
                <a:spcPts val="0"/>
              </a:spcAft>
            </a:pPr>
            <a:r>
              <a:rPr sz="2600" b="1" i="0">
                <a:solidFill>
                  <a:srgbClr val="FFFFFF"/>
                </a:solidFill>
                <a:latin typeface="Century Schoolbook"/>
              </a:rPr>
              <a:t>Satellite</a:t>
            </a:r>
          </a:p>
        </p:txBody>
      </p:sp>
      <p:sp>
        <p:nvSpPr>
          <p:cNvPr id="7" name="TextBox 6"/>
          <p:cNvSpPr txBox="1"/>
          <p:nvPr/>
        </p:nvSpPr>
        <p:spPr>
          <a:xfrm>
            <a:off x="3977639" y="2926080"/>
            <a:ext cx="2834640" cy="822960"/>
          </a:xfrm>
          <a:prstGeom prst="rect">
            <a:avLst/>
          </a:prstGeom>
          <a:noFill/>
        </p:spPr>
        <p:txBody>
          <a:bodyPr wrap="square" anchor="ctr" lIns="0" rIns="0" tIns="0" bIns="0">
            <a:spAutoFit/>
          </a:bodyPr>
          <a:lstStyle/>
          <a:p>
            <a:pPr algn="ctr">
              <a:lnSpc>
                <a:spcPct val="105000"/>
              </a:lnSpc>
              <a:spcAft>
                <a:spcPts val="0"/>
              </a:spcAft>
            </a:pPr>
            <a:r>
              <a:rPr sz="2600" b="1" i="0">
                <a:solidFill>
                  <a:srgbClr val="FFFFFF"/>
                </a:solidFill>
                <a:latin typeface="Century Schoolbook"/>
              </a:rPr>
              <a:t>Drone</a:t>
            </a:r>
          </a:p>
        </p:txBody>
      </p:sp>
      <p:sp>
        <p:nvSpPr>
          <p:cNvPr id="8" name="Oval 7"/>
          <p:cNvSpPr/>
          <p:nvPr/>
        </p:nvSpPr>
        <p:spPr>
          <a:xfrm>
            <a:off x="7406640" y="1837943"/>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783080"/>
            <a:ext cx="382493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Eye one: the satellite</a:t>
            </a:r>
          </a:p>
          <a:p>
            <a:pPr algn="l">
              <a:lnSpc>
                <a:spcPct val="108000"/>
              </a:lnSpc>
              <a:spcAft>
                <a:spcPts val="0"/>
              </a:spcAft>
            </a:pPr>
            <a:r>
              <a:rPr sz="1500" b="0" i="0">
                <a:solidFill>
                  <a:srgbClr val="5F6B64"/>
                </a:solidFill>
                <a:latin typeface="Calibri"/>
              </a:rPr>
              <a:t>Looks at every field about every 5 days. It's free, and the farmer needs nothing at all.</a:t>
            </a:r>
          </a:p>
        </p:txBody>
      </p:sp>
      <p:sp>
        <p:nvSpPr>
          <p:cNvPr id="10" name="Oval 9"/>
          <p:cNvSpPr/>
          <p:nvPr/>
        </p:nvSpPr>
        <p:spPr>
          <a:xfrm>
            <a:off x="7406640" y="3209544"/>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19" y="3154680"/>
            <a:ext cx="382493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Eye two: the drone</a:t>
            </a:r>
          </a:p>
          <a:p>
            <a:pPr algn="l">
              <a:lnSpc>
                <a:spcPct val="108000"/>
              </a:lnSpc>
              <a:spcAft>
                <a:spcPts val="0"/>
              </a:spcAft>
            </a:pPr>
            <a:r>
              <a:rPr sz="1500" b="0" i="0">
                <a:solidFill>
                  <a:srgbClr val="5F6B64"/>
                </a:solidFill>
                <a:latin typeface="Calibri"/>
              </a:rPr>
              <a:t>Zooms in only where it matters: plant by plant, the lie of the land, and with a thermal camera, hot spots that can mean pests.</a:t>
            </a:r>
          </a:p>
        </p:txBody>
      </p:sp>
      <p:sp>
        <p:nvSpPr>
          <p:cNvPr id="12" name="Oval 11"/>
          <p:cNvSpPr/>
          <p:nvPr/>
        </p:nvSpPr>
        <p:spPr>
          <a:xfrm>
            <a:off x="7406640" y="4809744"/>
            <a:ext cx="237744" cy="237744"/>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19" y="4754880"/>
            <a:ext cx="382493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The answer comes by text</a:t>
            </a:r>
          </a:p>
          <a:p>
            <a:pPr algn="l">
              <a:lnSpc>
                <a:spcPct val="108000"/>
              </a:lnSpc>
              <a:spcAft>
                <a:spcPts val="0"/>
              </a:spcAft>
            </a:pPr>
            <a:r>
              <a:rPr sz="1500" b="0" i="0">
                <a:solidFill>
                  <a:srgbClr val="5F6B64"/>
                </a:solidFill>
                <a:latin typeface="Calibri"/>
              </a:rPr>
              <a:t>In Spanish or English, on any phone.</a:t>
            </a:r>
          </a:p>
        </p:txBody>
      </p:sp>
      <p:sp>
        <p:nvSpPr>
          <p:cNvPr id="14" name="TextBox 13"/>
          <p:cNvSpPr txBox="1"/>
          <p:nvPr/>
        </p:nvSpPr>
        <p:spPr>
          <a:xfrm>
            <a:off x="868680" y="5074920"/>
            <a:ext cx="5943600" cy="457200"/>
          </a:xfrm>
          <a:prstGeom prst="rect">
            <a:avLst/>
          </a:prstGeom>
          <a:noFill/>
        </p:spPr>
        <p:txBody>
          <a:bodyPr wrap="square" anchor="t" lIns="0" rIns="0" tIns="0" bIns="0">
            <a:spAutoFit/>
          </a:bodyPr>
          <a:lstStyle/>
          <a:p>
            <a:pPr algn="l">
              <a:lnSpc>
                <a:spcPct val="100000"/>
              </a:lnSpc>
              <a:spcAft>
                <a:spcPts val="0"/>
              </a:spcAft>
            </a:pPr>
            <a:r>
              <a:rPr sz="1100" b="0" i="0">
                <a:solidFill>
                  <a:srgbClr val="5F6B64"/>
                </a:solidFill>
                <a:latin typeface="Calibri"/>
              </a:rPr>
              <a:t>The two circles in the corner of each slide show which eye is at work.</a:t>
            </a:r>
          </a:p>
        </p:txBody>
      </p:sp>
      <p:sp>
        <p:nvSpPr>
          <p:cNvPr id="15" name="Oval 14"/>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4</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How a text message gets made</a:t>
            </a:r>
          </a:p>
        </p:txBody>
      </p:sp>
      <p:sp>
        <p:nvSpPr>
          <p:cNvPr id="4" name="Oval 3"/>
          <p:cNvSpPr/>
          <p:nvPr/>
        </p:nvSpPr>
        <p:spPr>
          <a:xfrm>
            <a:off x="548640" y="1783080"/>
            <a:ext cx="731520" cy="73152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Century Schoolbook"/>
              </a:rPr>
              <a:t>1</a:t>
            </a:r>
          </a:p>
        </p:txBody>
      </p:sp>
      <p:sp>
        <p:nvSpPr>
          <p:cNvPr id="5" name="Chevron 4"/>
          <p:cNvSpPr/>
          <p:nvPr/>
        </p:nvSpPr>
        <p:spPr>
          <a:xfrm>
            <a:off x="3098215" y="2011680"/>
            <a:ext cx="237744" cy="274320"/>
          </a:xfrm>
          <a:prstGeom prst="chevron">
            <a:avLst/>
          </a:prstGeom>
          <a:solidFill>
            <a:srgbClr val="D5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0"/>
            <a:ext cx="2430703" cy="731520"/>
          </a:xfrm>
          <a:prstGeom prst="rect">
            <a:avLst/>
          </a:prstGeom>
          <a:noFill/>
        </p:spPr>
        <p:txBody>
          <a:bodyPr wrap="square" anchor="t" lIns="0" rIns="0" tIns="0" bIns="0">
            <a:spAutoFit/>
          </a:bodyPr>
          <a:lstStyle/>
          <a:p>
            <a:pPr algn="l">
              <a:lnSpc>
                <a:spcPct val="100000"/>
              </a:lnSpc>
              <a:spcAft>
                <a:spcPts val="0"/>
              </a:spcAft>
            </a:pPr>
            <a:r>
              <a:rPr sz="1900" b="1" i="0">
                <a:solidFill>
                  <a:srgbClr val="1E2B24"/>
                </a:solidFill>
                <a:latin typeface="Century Schoolbook"/>
              </a:rPr>
              <a:t>The satellite passes</a:t>
            </a:r>
          </a:p>
        </p:txBody>
      </p:sp>
      <p:sp>
        <p:nvSpPr>
          <p:cNvPr id="7" name="TextBox 6"/>
          <p:cNvSpPr txBox="1"/>
          <p:nvPr/>
        </p:nvSpPr>
        <p:spPr>
          <a:xfrm>
            <a:off x="548640" y="3520440"/>
            <a:ext cx="2430703" cy="1417320"/>
          </a:xfrm>
          <a:prstGeom prst="rect">
            <a:avLst/>
          </a:prstGeom>
          <a:noFill/>
        </p:spPr>
        <p:txBody>
          <a:bodyPr wrap="square" anchor="t" lIns="0" rIns="0" tIns="0" bIns="0">
            <a:spAutoFit/>
          </a:bodyPr>
          <a:lstStyle/>
          <a:p>
            <a:pPr algn="l">
              <a:lnSpc>
                <a:spcPct val="110000"/>
              </a:lnSpc>
              <a:spcAft>
                <a:spcPts val="0"/>
              </a:spcAft>
            </a:pPr>
            <a:r>
              <a:rPr sz="1500" b="0" i="0">
                <a:solidFill>
                  <a:srgbClr val="5F6B64"/>
                </a:solidFill>
                <a:latin typeface="Calibri"/>
              </a:rPr>
              <a:t>A fresh picture of every field, about every 5 days.</a:t>
            </a:r>
          </a:p>
        </p:txBody>
      </p:sp>
      <p:sp>
        <p:nvSpPr>
          <p:cNvPr id="8" name="Oval 7"/>
          <p:cNvSpPr/>
          <p:nvPr/>
        </p:nvSpPr>
        <p:spPr>
          <a:xfrm>
            <a:off x="3436543" y="1783080"/>
            <a:ext cx="731520" cy="73152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Century Schoolbook"/>
              </a:rPr>
              <a:t>2</a:t>
            </a:r>
          </a:p>
        </p:txBody>
      </p:sp>
      <p:sp>
        <p:nvSpPr>
          <p:cNvPr id="9" name="Chevron 8"/>
          <p:cNvSpPr/>
          <p:nvPr/>
        </p:nvSpPr>
        <p:spPr>
          <a:xfrm>
            <a:off x="5986119" y="2011680"/>
            <a:ext cx="237744" cy="274320"/>
          </a:xfrm>
          <a:prstGeom prst="chevron">
            <a:avLst/>
          </a:prstGeom>
          <a:solidFill>
            <a:srgbClr val="D5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6543" y="2743200"/>
            <a:ext cx="2430703" cy="731520"/>
          </a:xfrm>
          <a:prstGeom prst="rect">
            <a:avLst/>
          </a:prstGeom>
          <a:noFill/>
        </p:spPr>
        <p:txBody>
          <a:bodyPr wrap="square" anchor="t" lIns="0" rIns="0" tIns="0" bIns="0">
            <a:spAutoFit/>
          </a:bodyPr>
          <a:lstStyle/>
          <a:p>
            <a:pPr algn="l">
              <a:lnSpc>
                <a:spcPct val="100000"/>
              </a:lnSpc>
              <a:spcAft>
                <a:spcPts val="0"/>
              </a:spcAft>
            </a:pPr>
            <a:r>
              <a:rPr sz="1900" b="1" i="0">
                <a:solidFill>
                  <a:srgbClr val="1E2B24"/>
                </a:solidFill>
                <a:latin typeface="Century Schoolbook"/>
              </a:rPr>
              <a:t>Compare the field with itself</a:t>
            </a:r>
          </a:p>
        </p:txBody>
      </p:sp>
      <p:sp>
        <p:nvSpPr>
          <p:cNvPr id="11" name="TextBox 10"/>
          <p:cNvSpPr txBox="1"/>
          <p:nvPr/>
        </p:nvSpPr>
        <p:spPr>
          <a:xfrm>
            <a:off x="3436543" y="3520440"/>
            <a:ext cx="2430703" cy="1417320"/>
          </a:xfrm>
          <a:prstGeom prst="rect">
            <a:avLst/>
          </a:prstGeom>
          <a:noFill/>
        </p:spPr>
        <p:txBody>
          <a:bodyPr wrap="square" anchor="t" lIns="0" rIns="0" tIns="0" bIns="0">
            <a:spAutoFit/>
          </a:bodyPr>
          <a:lstStyle/>
          <a:p>
            <a:pPr algn="l">
              <a:lnSpc>
                <a:spcPct val="110000"/>
              </a:lnSpc>
              <a:spcAft>
                <a:spcPts val="0"/>
              </a:spcAft>
            </a:pPr>
            <a:r>
              <a:rPr sz="1500" b="0" i="0">
                <a:solidFill>
                  <a:srgbClr val="5F6B64"/>
                </a:solidFill>
                <a:latin typeface="Calibri"/>
              </a:rPr>
              <a:t>Is it as green as it usually is on this date? The yardstick is its own past years, never a neighbour's farm.</a:t>
            </a:r>
          </a:p>
        </p:txBody>
      </p:sp>
      <p:sp>
        <p:nvSpPr>
          <p:cNvPr id="12" name="Oval 11"/>
          <p:cNvSpPr/>
          <p:nvPr/>
        </p:nvSpPr>
        <p:spPr>
          <a:xfrm>
            <a:off x="6324447" y="1783080"/>
            <a:ext cx="731520" cy="73152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Century Schoolbook"/>
              </a:rPr>
              <a:t>3</a:t>
            </a:r>
          </a:p>
        </p:txBody>
      </p:sp>
      <p:sp>
        <p:nvSpPr>
          <p:cNvPr id="13" name="Chevron 12"/>
          <p:cNvSpPr/>
          <p:nvPr/>
        </p:nvSpPr>
        <p:spPr>
          <a:xfrm>
            <a:off x="8874023" y="2011680"/>
            <a:ext cx="237744" cy="274320"/>
          </a:xfrm>
          <a:prstGeom prst="chevron">
            <a:avLst/>
          </a:prstGeom>
          <a:solidFill>
            <a:srgbClr val="D5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2743200"/>
            <a:ext cx="2430703" cy="731520"/>
          </a:xfrm>
          <a:prstGeom prst="rect">
            <a:avLst/>
          </a:prstGeom>
          <a:noFill/>
        </p:spPr>
        <p:txBody>
          <a:bodyPr wrap="square" anchor="t" lIns="0" rIns="0" tIns="0" bIns="0">
            <a:spAutoFit/>
          </a:bodyPr>
          <a:lstStyle/>
          <a:p>
            <a:pPr algn="l">
              <a:lnSpc>
                <a:spcPct val="100000"/>
              </a:lnSpc>
              <a:spcAft>
                <a:spcPts val="0"/>
              </a:spcAft>
            </a:pPr>
            <a:r>
              <a:rPr sz="1900" b="1" i="0">
                <a:solidFill>
                  <a:srgbClr val="1E2B24"/>
                </a:solidFill>
                <a:latin typeface="Century Schoolbook"/>
              </a:rPr>
              <a:t>Keep a water checkbook</a:t>
            </a:r>
          </a:p>
        </p:txBody>
      </p:sp>
      <p:sp>
        <p:nvSpPr>
          <p:cNvPr id="15" name="TextBox 14"/>
          <p:cNvSpPr txBox="1"/>
          <p:nvPr/>
        </p:nvSpPr>
        <p:spPr>
          <a:xfrm>
            <a:off x="6324447" y="3520440"/>
            <a:ext cx="2430703" cy="1417320"/>
          </a:xfrm>
          <a:prstGeom prst="rect">
            <a:avLst/>
          </a:prstGeom>
          <a:noFill/>
        </p:spPr>
        <p:txBody>
          <a:bodyPr wrap="square" anchor="t" lIns="0" rIns="0" tIns="0" bIns="0">
            <a:spAutoFit/>
          </a:bodyPr>
          <a:lstStyle/>
          <a:p>
            <a:pPr algn="l">
              <a:lnSpc>
                <a:spcPct val="110000"/>
              </a:lnSpc>
              <a:spcAft>
                <a:spcPts val="0"/>
              </a:spcAft>
            </a:pPr>
            <a:r>
              <a:rPr sz="1500" b="0" i="0">
                <a:solidFill>
                  <a:srgbClr val="5F6B64"/>
                </a:solidFill>
                <a:latin typeface="Calibri"/>
              </a:rPr>
              <a:t>Rain and every watering the farmer texts in go in. Sun and heat take water out.</a:t>
            </a:r>
          </a:p>
        </p:txBody>
      </p:sp>
      <p:sp>
        <p:nvSpPr>
          <p:cNvPr id="16" name="Oval 15"/>
          <p:cNvSpPr/>
          <p:nvPr/>
        </p:nvSpPr>
        <p:spPr>
          <a:xfrm>
            <a:off x="9212351" y="1783080"/>
            <a:ext cx="731520" cy="731520"/>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Century Schoolbook"/>
              </a:rPr>
              <a:t>4</a:t>
            </a:r>
          </a:p>
        </p:txBody>
      </p:sp>
      <p:sp>
        <p:nvSpPr>
          <p:cNvPr id="17" name="TextBox 16"/>
          <p:cNvSpPr txBox="1"/>
          <p:nvPr/>
        </p:nvSpPr>
        <p:spPr>
          <a:xfrm>
            <a:off x="9212351" y="2743200"/>
            <a:ext cx="2430703" cy="731520"/>
          </a:xfrm>
          <a:prstGeom prst="rect">
            <a:avLst/>
          </a:prstGeom>
          <a:noFill/>
        </p:spPr>
        <p:txBody>
          <a:bodyPr wrap="square" anchor="t" lIns="0" rIns="0" tIns="0" bIns="0">
            <a:spAutoFit/>
          </a:bodyPr>
          <a:lstStyle/>
          <a:p>
            <a:pPr algn="l">
              <a:lnSpc>
                <a:spcPct val="100000"/>
              </a:lnSpc>
              <a:spcAft>
                <a:spcPts val="0"/>
              </a:spcAft>
            </a:pPr>
            <a:r>
              <a:rPr sz="1900" b="1" i="0">
                <a:solidFill>
                  <a:srgbClr val="1E2B24"/>
                </a:solidFill>
                <a:latin typeface="Century Schoolbook"/>
              </a:rPr>
              <a:t>Text the farmer</a:t>
            </a:r>
          </a:p>
        </p:txBody>
      </p:sp>
      <p:sp>
        <p:nvSpPr>
          <p:cNvPr id="18" name="TextBox 17"/>
          <p:cNvSpPr txBox="1"/>
          <p:nvPr/>
        </p:nvSpPr>
        <p:spPr>
          <a:xfrm>
            <a:off x="9212351" y="3520440"/>
            <a:ext cx="2430703" cy="1417320"/>
          </a:xfrm>
          <a:prstGeom prst="rect">
            <a:avLst/>
          </a:prstGeom>
          <a:noFill/>
        </p:spPr>
        <p:txBody>
          <a:bodyPr wrap="square" anchor="t" lIns="0" rIns="0" tIns="0" bIns="0">
            <a:spAutoFit/>
          </a:bodyPr>
          <a:lstStyle/>
          <a:p>
            <a:pPr algn="l">
              <a:lnSpc>
                <a:spcPct val="110000"/>
              </a:lnSpc>
              <a:spcAft>
                <a:spcPts val="0"/>
              </a:spcAft>
            </a:pPr>
            <a:r>
              <a:rPr sz="1500" b="0" i="0">
                <a:solidFill>
                  <a:srgbClr val="5F6B64"/>
                </a:solidFill>
                <a:latin typeface="Calibri"/>
              </a:rPr>
              <a:t>When to water and how much. Reply WHY to see the working.</a:t>
            </a:r>
          </a:p>
        </p:txBody>
      </p:sp>
      <p:sp>
        <p:nvSpPr>
          <p:cNvPr id="19" name="Rounded Rectangle 18"/>
          <p:cNvSpPr/>
          <p:nvPr/>
        </p:nvSpPr>
        <p:spPr>
          <a:xfrm>
            <a:off x="548640" y="5029200"/>
            <a:ext cx="11094415" cy="1097280"/>
          </a:xfrm>
          <a:prstGeom prst="roundRect">
            <a:avLst>
              <a:gd name="adj" fmla="val 8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8680" y="5422392"/>
            <a:ext cx="310896" cy="310896"/>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5138928"/>
            <a:ext cx="9997135" cy="868680"/>
          </a:xfrm>
          <a:prstGeom prst="rect">
            <a:avLst/>
          </a:prstGeom>
          <a:noFill/>
        </p:spPr>
        <p:txBody>
          <a:bodyPr wrap="square" anchor="ctr" lIns="0" rIns="0" tIns="0" bIns="0">
            <a:spAutoFit/>
          </a:bodyPr>
          <a:lstStyle/>
          <a:p>
            <a:pPr algn="l">
              <a:lnSpc>
                <a:spcPct val="110000"/>
              </a:lnSpc>
              <a:spcAft>
                <a:spcPts val="0"/>
              </a:spcAft>
            </a:pPr>
            <a:r>
              <a:rPr sz="1600" b="1" i="0">
                <a:solidFill>
                  <a:srgbClr val="1E2B24"/>
                </a:solidFill>
                <a:latin typeface="Calibri"/>
              </a:rPr>
              <a:t>Only if the farmer wants more:  </a:t>
            </a:r>
            <a:r>
              <a:rPr sz="1600" b="0" i="0">
                <a:solidFill>
                  <a:srgbClr val="5F6B64"/>
                </a:solidFill>
                <a:latin typeface="Calibri"/>
              </a:rPr>
              <a:t>send drone photos for a plant-by-plant check, or add a thermal camera for an early pest warning.</a:t>
            </a:r>
          </a:p>
        </p:txBody>
      </p:sp>
      <p:sp>
        <p:nvSpPr>
          <p:cNvPr id="22" name="Oval 21"/>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77295"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5</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Every field against its own past</a:t>
            </a:r>
          </a:p>
        </p:txBody>
      </p:sp>
      <p:pic>
        <p:nvPicPr>
          <p:cNvPr id="4" name="Picture 3" descr="ndvi_corn.png"/>
          <p:cNvPicPr>
            <a:picLocks noChangeAspect="1"/>
          </p:cNvPicPr>
          <p:nvPr/>
        </p:nvPicPr>
        <p:blipFill>
          <a:blip r:embed="rId2"/>
          <a:stretch>
            <a:fillRect/>
          </a:stretch>
        </p:blipFill>
        <p:spPr>
          <a:xfrm>
            <a:off x="1493677" y="1463040"/>
            <a:ext cx="9204340" cy="3611880"/>
          </a:xfrm>
          <a:prstGeom prst="rect">
            <a:avLst/>
          </a:prstGeom>
          <a:ln w="9525">
            <a:solidFill>
              <a:srgbClr val="D5DCD6"/>
            </a:solidFill>
          </a:ln>
        </p:spPr>
      </p:pic>
      <p:sp>
        <p:nvSpPr>
          <p:cNvPr id="5" name="TextBox 4"/>
          <p:cNvSpPr txBox="1"/>
          <p:nvPr/>
        </p:nvSpPr>
        <p:spPr>
          <a:xfrm>
            <a:off x="1493677" y="5129784"/>
            <a:ext cx="9204340" cy="320040"/>
          </a:xfrm>
          <a:prstGeom prst="rect">
            <a:avLst/>
          </a:prstGeom>
          <a:noFill/>
        </p:spPr>
        <p:txBody>
          <a:bodyPr wrap="square" anchor="t" lIns="0" rIns="0" tIns="0" bIns="0">
            <a:spAutoFit/>
          </a:bodyPr>
          <a:lstStyle/>
          <a:p>
            <a:pPr algn="l">
              <a:lnSpc>
                <a:spcPct val="100000"/>
              </a:lnSpc>
              <a:spcAft>
                <a:spcPts val="0"/>
              </a:spcAft>
            </a:pPr>
            <a:r>
              <a:rPr sz="1100" b="0" i="0">
                <a:solidFill>
                  <a:srgbClr val="5F6B64"/>
                </a:solidFill>
                <a:latin typeface="Calibri"/>
              </a:rPr>
              <a:t>Maiz Lyford, a real corn field near Lyford, Texas. Satellite: Sentinel-2 (Copernicus), free.</a:t>
            </a:r>
          </a:p>
        </p:txBody>
      </p:sp>
      <p:sp>
        <p:nvSpPr>
          <p:cNvPr id="6" name="Oval 5"/>
          <p:cNvSpPr/>
          <p:nvPr/>
        </p:nvSpPr>
        <p:spPr>
          <a:xfrm>
            <a:off x="548640" y="5541264"/>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486400"/>
            <a:ext cx="3073298"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The green line</a:t>
            </a:r>
          </a:p>
          <a:p>
            <a:pPr algn="l">
              <a:lnSpc>
                <a:spcPct val="108000"/>
              </a:lnSpc>
              <a:spcAft>
                <a:spcPts val="0"/>
              </a:spcAft>
            </a:pPr>
            <a:r>
              <a:rPr sz="1350" b="0" i="0">
                <a:solidFill>
                  <a:srgbClr val="5F6B64"/>
                </a:solidFill>
                <a:latin typeface="Calibri"/>
              </a:rPr>
              <a:t>How green the field is this season, measured from space.</a:t>
            </a:r>
          </a:p>
        </p:txBody>
      </p:sp>
      <p:sp>
        <p:nvSpPr>
          <p:cNvPr id="8" name="Oval 7"/>
          <p:cNvSpPr/>
          <p:nvPr/>
        </p:nvSpPr>
        <p:spPr>
          <a:xfrm>
            <a:off x="4353458" y="5541264"/>
            <a:ext cx="237744" cy="237744"/>
          </a:xfrm>
          <a:prstGeom prst="ellipse">
            <a:avLst/>
          </a:prstGeom>
          <a:solidFill>
            <a:srgbClr val="9AA3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64938" y="5486400"/>
            <a:ext cx="3073298"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The grey band</a:t>
            </a:r>
          </a:p>
          <a:p>
            <a:pPr algn="l">
              <a:lnSpc>
                <a:spcPct val="108000"/>
              </a:lnSpc>
              <a:spcAft>
                <a:spcPts val="0"/>
              </a:spcAft>
            </a:pPr>
            <a:r>
              <a:rPr sz="1350" b="0" i="0">
                <a:solidFill>
                  <a:srgbClr val="5F6B64"/>
                </a:solidFill>
                <a:latin typeface="Calibri"/>
              </a:rPr>
              <a:t>What this same field usually looks like on this date, in past years.</a:t>
            </a:r>
          </a:p>
        </p:txBody>
      </p:sp>
      <p:sp>
        <p:nvSpPr>
          <p:cNvPr id="10" name="Oval 9"/>
          <p:cNvSpPr/>
          <p:nvPr/>
        </p:nvSpPr>
        <p:spPr>
          <a:xfrm>
            <a:off x="8158276" y="5541264"/>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69756" y="5486400"/>
            <a:ext cx="3073298"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Below the band</a:t>
            </a:r>
          </a:p>
          <a:p>
            <a:pPr algn="l">
              <a:lnSpc>
                <a:spcPct val="108000"/>
              </a:lnSpc>
              <a:spcAft>
                <a:spcPts val="0"/>
              </a:spcAft>
            </a:pPr>
            <a:r>
              <a:rPr sz="1350" b="0" i="0">
                <a:solidFill>
                  <a:srgbClr val="5F6B64"/>
                </a:solidFill>
                <a:latin typeface="Calibri"/>
              </a:rPr>
              <a:t>Behind its own normal: worth a closer look.</a:t>
            </a:r>
          </a:p>
        </p:txBody>
      </p:sp>
      <p:sp>
        <p:nvSpPr>
          <p:cNvPr id="12" name="Oval 11"/>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277295"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6</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Water, kept like a checkbook</a:t>
            </a:r>
          </a:p>
        </p:txBody>
      </p:sp>
      <p:pic>
        <p:nvPicPr>
          <p:cNvPr id="4" name="Picture 3" descr="water_corn.png"/>
          <p:cNvPicPr>
            <a:picLocks noChangeAspect="1"/>
          </p:cNvPicPr>
          <p:nvPr/>
        </p:nvPicPr>
        <p:blipFill>
          <a:blip r:embed="rId2"/>
          <a:stretch>
            <a:fillRect/>
          </a:stretch>
        </p:blipFill>
        <p:spPr>
          <a:xfrm>
            <a:off x="548640" y="1600200"/>
            <a:ext cx="7818120" cy="3724366"/>
          </a:xfrm>
          <a:prstGeom prst="rect">
            <a:avLst/>
          </a:prstGeom>
          <a:ln w="9525">
            <a:solidFill>
              <a:srgbClr val="D5DCD6"/>
            </a:solidFill>
          </a:ln>
        </p:spPr>
      </p:pic>
      <p:sp>
        <p:nvSpPr>
          <p:cNvPr id="5" name="TextBox 4"/>
          <p:cNvSpPr txBox="1"/>
          <p:nvPr/>
        </p:nvSpPr>
        <p:spPr>
          <a:xfrm>
            <a:off x="548640" y="5416006"/>
            <a:ext cx="7818120" cy="457200"/>
          </a:xfrm>
          <a:prstGeom prst="rect">
            <a:avLst/>
          </a:prstGeom>
          <a:noFill/>
        </p:spPr>
        <p:txBody>
          <a:bodyPr wrap="square" anchor="t" lIns="0" rIns="0" tIns="0" bIns="0">
            <a:spAutoFit/>
          </a:bodyPr>
          <a:lstStyle/>
          <a:p>
            <a:pPr algn="l">
              <a:lnSpc>
                <a:spcPct val="100000"/>
              </a:lnSpc>
              <a:spcAft>
                <a:spcPts val="0"/>
              </a:spcAft>
            </a:pPr>
            <a:r>
              <a:rPr sz="1100" b="0" i="0">
                <a:solidFill>
                  <a:srgbClr val="5F6B64"/>
                </a:solidFill>
                <a:latin typeface="Calibri"/>
              </a:rPr>
              <a:t>Same corn field. Soil: USDA soil survey. Weather: gridMET, government data.</a:t>
            </a:r>
          </a:p>
        </p:txBody>
      </p:sp>
      <p:sp>
        <p:nvSpPr>
          <p:cNvPr id="6" name="Oval 5"/>
          <p:cNvSpPr/>
          <p:nvPr/>
        </p:nvSpPr>
        <p:spPr>
          <a:xfrm>
            <a:off x="8732520" y="1655064"/>
            <a:ext cx="237744" cy="237744"/>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0" y="1600200"/>
            <a:ext cx="249905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The balance</a:t>
            </a:r>
          </a:p>
          <a:p>
            <a:pPr algn="l">
              <a:lnSpc>
                <a:spcPct val="108000"/>
              </a:lnSpc>
              <a:spcAft>
                <a:spcPts val="0"/>
              </a:spcAft>
            </a:pPr>
            <a:r>
              <a:rPr sz="1500" b="0" i="0">
                <a:solidFill>
                  <a:srgbClr val="5F6B64"/>
                </a:solidFill>
                <a:latin typeface="Calibri"/>
              </a:rPr>
              <a:t>How much water this soil can hold for the roots.</a:t>
            </a:r>
          </a:p>
        </p:txBody>
      </p:sp>
      <p:sp>
        <p:nvSpPr>
          <p:cNvPr id="8" name="Oval 7"/>
          <p:cNvSpPr/>
          <p:nvPr/>
        </p:nvSpPr>
        <p:spPr>
          <a:xfrm>
            <a:off x="8732520" y="2798064"/>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2743200"/>
            <a:ext cx="249905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Deposits</a:t>
            </a:r>
          </a:p>
          <a:p>
            <a:pPr algn="l">
              <a:lnSpc>
                <a:spcPct val="108000"/>
              </a:lnSpc>
              <a:spcAft>
                <a:spcPts val="0"/>
              </a:spcAft>
            </a:pPr>
            <a:r>
              <a:rPr sz="1500" b="0" i="0">
                <a:solidFill>
                  <a:srgbClr val="5F6B64"/>
                </a:solidFill>
                <a:latin typeface="Calibri"/>
              </a:rPr>
              <a:t>Rain, plus every watering the farmer texts in.</a:t>
            </a:r>
          </a:p>
        </p:txBody>
      </p:sp>
      <p:sp>
        <p:nvSpPr>
          <p:cNvPr id="10" name="Oval 9"/>
          <p:cNvSpPr/>
          <p:nvPr/>
        </p:nvSpPr>
        <p:spPr>
          <a:xfrm>
            <a:off x="8732520" y="3941063"/>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3886200"/>
            <a:ext cx="249905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Withdrawals</a:t>
            </a:r>
          </a:p>
          <a:p>
            <a:pPr algn="l">
              <a:lnSpc>
                <a:spcPct val="108000"/>
              </a:lnSpc>
              <a:spcAft>
                <a:spcPts val="0"/>
              </a:spcAft>
            </a:pPr>
            <a:r>
              <a:rPr sz="1500" b="0" i="0">
                <a:solidFill>
                  <a:srgbClr val="5F6B64"/>
                </a:solidFill>
                <a:latin typeface="Calibri"/>
              </a:rPr>
              <a:t>What sun and heat pull out each day, sized to how green the crop is.</a:t>
            </a:r>
          </a:p>
        </p:txBody>
      </p:sp>
      <p:sp>
        <p:nvSpPr>
          <p:cNvPr id="12" name="Rounded Rectangle 11"/>
          <p:cNvSpPr/>
          <p:nvPr/>
        </p:nvSpPr>
        <p:spPr>
          <a:xfrm>
            <a:off x="8732520" y="5212080"/>
            <a:ext cx="2910535" cy="960120"/>
          </a:xfrm>
          <a:prstGeom prst="roundRect">
            <a:avLst>
              <a:gd name="adj" fmla="val 10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5257800"/>
            <a:ext cx="2499055" cy="868680"/>
          </a:xfrm>
          <a:prstGeom prst="rect">
            <a:avLst/>
          </a:prstGeom>
          <a:noFill/>
        </p:spPr>
        <p:txBody>
          <a:bodyPr wrap="square" anchor="ctr" lIns="0" rIns="0" tIns="0" bIns="0">
            <a:spAutoFit/>
          </a:bodyPr>
          <a:lstStyle/>
          <a:p>
            <a:pPr algn="l">
              <a:lnSpc>
                <a:spcPct val="105000"/>
              </a:lnSpc>
              <a:spcAft>
                <a:spcPts val="0"/>
              </a:spcAft>
            </a:pPr>
            <a:r>
              <a:rPr sz="1700" b="1" i="0">
                <a:solidFill>
                  <a:srgbClr val="1E2B24"/>
                </a:solidFill>
                <a:latin typeface="Calibri"/>
              </a:rPr>
              <a:t>Result: water by 25 May, about 4 inches.</a:t>
            </a:r>
          </a:p>
        </p:txBody>
      </p:sp>
      <p:sp>
        <p:nvSpPr>
          <p:cNvPr id="14" name="Oval 13"/>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277295"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B24"/>
        </a:solidFill>
        <a:effectLst/>
      </p:bgPr>
    </p:bg>
    <p:spTree>
      <p:nvGrpSpPr>
        <p:cNvPr id="1" name=""/>
        <p:cNvGrpSpPr/>
        <p:nvPr/>
      </p:nvGrpSpPr>
      <p:grpSpPr/>
      <p:sp>
        <p:nvSpPr>
          <p:cNvPr id="2" name="Rounded Rectangle 1"/>
          <p:cNvSpPr/>
          <p:nvPr/>
        </p:nvSpPr>
        <p:spPr>
          <a:xfrm>
            <a:off x="548640" y="1554480"/>
            <a:ext cx="1005840" cy="329184"/>
          </a:xfrm>
          <a:prstGeom prst="roundRect">
            <a:avLst>
              <a:gd name="adj" fmla="val 50000"/>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Calibri"/>
              </a:rPr>
              <a:t>DEMO</a:t>
            </a:r>
          </a:p>
        </p:txBody>
      </p:sp>
      <p:sp>
        <p:nvSpPr>
          <p:cNvPr id="3" name="TextBox 2"/>
          <p:cNvSpPr txBox="1"/>
          <p:nvPr/>
        </p:nvSpPr>
        <p:spPr>
          <a:xfrm>
            <a:off x="548640" y="2103120"/>
            <a:ext cx="10515600" cy="1097280"/>
          </a:xfrm>
          <a:prstGeom prst="rect">
            <a:avLst/>
          </a:prstGeom>
          <a:noFill/>
        </p:spPr>
        <p:txBody>
          <a:bodyPr wrap="square" anchor="t" lIns="0" rIns="0" tIns="0" bIns="0">
            <a:spAutoFit/>
          </a:bodyPr>
          <a:lstStyle/>
          <a:p>
            <a:pPr algn="l">
              <a:lnSpc>
                <a:spcPct val="105000"/>
              </a:lnSpc>
              <a:spcAft>
                <a:spcPts val="0"/>
              </a:spcAft>
            </a:pPr>
            <a:r>
              <a:rPr sz="5800" b="1" i="0">
                <a:solidFill>
                  <a:srgbClr val="F2F5F1"/>
                </a:solidFill>
                <a:latin typeface="Century Schoolbook"/>
              </a:rPr>
              <a:t>A week in the Valley</a:t>
            </a:r>
          </a:p>
        </p:txBody>
      </p:sp>
      <p:sp>
        <p:nvSpPr>
          <p:cNvPr id="4" name="TextBox 3"/>
          <p:cNvSpPr txBox="1"/>
          <p:nvPr/>
        </p:nvSpPr>
        <p:spPr>
          <a:xfrm>
            <a:off x="548640" y="3337560"/>
            <a:ext cx="9509760" cy="1463040"/>
          </a:xfrm>
          <a:prstGeom prst="rect">
            <a:avLst/>
          </a:prstGeom>
          <a:noFill/>
        </p:spPr>
        <p:txBody>
          <a:bodyPr wrap="square" anchor="t" lIns="0" rIns="0" tIns="0" bIns="0">
            <a:spAutoFit/>
          </a:bodyPr>
          <a:lstStyle/>
          <a:p>
            <a:pPr algn="l">
              <a:lnSpc>
                <a:spcPct val="115000"/>
              </a:lnSpc>
              <a:spcAft>
                <a:spcPts val="0"/>
              </a:spcAft>
            </a:pPr>
            <a:r>
              <a:rPr sz="2100" b="0" i="0">
                <a:solidFill>
                  <a:srgbClr val="F2F5F1"/>
                </a:solidFill>
                <a:latin typeface="Calibri"/>
              </a:rPr>
              <a:t>Juan, Maria and Pedro are made up. Their fields near Lyford, Elsa and Primera are real, and so is every satellite picture, weather reading and soil map behind their answers.</a:t>
            </a:r>
          </a:p>
        </p:txBody>
      </p:sp>
      <p:sp>
        <p:nvSpPr>
          <p:cNvPr id="5" name="TextBox 4"/>
          <p:cNvSpPr txBox="1"/>
          <p:nvPr/>
        </p:nvSpPr>
        <p:spPr>
          <a:xfrm>
            <a:off x="548640" y="4983480"/>
            <a:ext cx="9601200" cy="731520"/>
          </a:xfrm>
          <a:prstGeom prst="rect">
            <a:avLst/>
          </a:prstGeom>
          <a:noFill/>
        </p:spPr>
        <p:txBody>
          <a:bodyPr wrap="square" anchor="t" lIns="0" rIns="0" tIns="0" bIns="0">
            <a:spAutoFit/>
          </a:bodyPr>
          <a:lstStyle/>
          <a:p>
            <a:pPr algn="l">
              <a:lnSpc>
                <a:spcPct val="105000"/>
              </a:lnSpc>
              <a:spcAft>
                <a:spcPts val="0"/>
              </a:spcAft>
            </a:pPr>
            <a:r>
              <a:rPr sz="1600" b="0" i="0">
                <a:solidFill>
                  <a:srgbClr val="A9B8AE"/>
                </a:solidFill>
                <a:latin typeface="Calibri"/>
              </a:rPr>
              <a:t>Every message and screen on the next slides comes from the working simulator.</a:t>
            </a:r>
          </a:p>
        </p:txBody>
      </p:sp>
      <p:sp>
        <p:nvSpPr>
          <p:cNvPr id="6" name="Oval 5"/>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8</a:t>
            </a:r>
          </a:p>
        </p:txBody>
      </p:sp>
      <p:sp>
        <p:nvSpPr>
          <p:cNvPr id="3" name="Rounded Rectangle 2"/>
          <p:cNvSpPr/>
          <p:nvPr/>
        </p:nvSpPr>
        <p:spPr>
          <a:xfrm>
            <a:off x="548640" y="109728"/>
            <a:ext cx="1325880" cy="329184"/>
          </a:xfrm>
          <a:prstGeom prst="roundRect">
            <a:avLst>
              <a:gd name="adj" fmla="val 50000"/>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Calibri"/>
              </a:rPr>
              <a:t>DEMO  1 / 5</a:t>
            </a:r>
          </a:p>
        </p:txBody>
      </p:sp>
      <p:sp>
        <p:nvSpPr>
          <p:cNvPr id="4" name="TextBox 3"/>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Signing up is a text conversation</a:t>
            </a:r>
          </a:p>
        </p:txBody>
      </p:sp>
      <p:sp>
        <p:nvSpPr>
          <p:cNvPr id="5" name="Rounded Rectangle 4"/>
          <p:cNvSpPr/>
          <p:nvPr/>
        </p:nvSpPr>
        <p:spPr>
          <a:xfrm>
            <a:off x="548640" y="1600200"/>
            <a:ext cx="5989320" cy="4754880"/>
          </a:xfrm>
          <a:prstGeom prst="roundRect">
            <a:avLst>
              <a:gd name="adj" fmla="val 4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746504"/>
            <a:ext cx="310896" cy="310896"/>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1709928"/>
            <a:ext cx="5129783" cy="411480"/>
          </a:xfrm>
          <a:prstGeom prst="rect">
            <a:avLst/>
          </a:prstGeom>
          <a:noFill/>
        </p:spPr>
        <p:txBody>
          <a:bodyPr wrap="square" anchor="ctr" lIns="0" rIns="0" tIns="0" bIns="0">
            <a:spAutoFit/>
          </a:bodyPr>
          <a:lstStyle/>
          <a:p>
            <a:pPr algn="l">
              <a:lnSpc>
                <a:spcPct val="105000"/>
              </a:lnSpc>
              <a:spcAft>
                <a:spcPts val="0"/>
              </a:spcAft>
            </a:pPr>
            <a:r>
              <a:rPr sz="1300" b="1" i="0">
                <a:solidFill>
                  <a:srgbClr val="1E2B24"/>
                </a:solidFill>
                <a:latin typeface="Calibri"/>
              </a:rPr>
              <a:t>Dos Ojos</a:t>
            </a:r>
            <a:r>
              <a:rPr sz="1100" b="0" i="0">
                <a:solidFill>
                  <a:srgbClr val="5F6B64"/>
                </a:solidFill>
                <a:latin typeface="Calibri"/>
              </a:rPr>
              <a:t>   text messages with Juan (made up)</a:t>
            </a:r>
          </a:p>
        </p:txBody>
      </p:sp>
      <p:sp>
        <p:nvSpPr>
          <p:cNvPr id="8" name="Rounded Rectangle 7"/>
          <p:cNvSpPr/>
          <p:nvPr/>
        </p:nvSpPr>
        <p:spPr>
          <a:xfrm>
            <a:off x="5513831" y="2223820"/>
            <a:ext cx="822960" cy="368808"/>
          </a:xfrm>
          <a:prstGeom prst="roundRect">
            <a:avLst>
              <a:gd name="adj" fmla="val 47603"/>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200" b="0" i="0">
                <a:solidFill>
                  <a:srgbClr val="FFFFFF"/>
                </a:solidFill>
                <a:latin typeface="Calibri"/>
              </a:rPr>
              <a:t>hola</a:t>
            </a:r>
          </a:p>
        </p:txBody>
      </p:sp>
      <p:sp>
        <p:nvSpPr>
          <p:cNvPr id="9" name="TextBox 8"/>
          <p:cNvSpPr txBox="1"/>
          <p:nvPr/>
        </p:nvSpPr>
        <p:spPr>
          <a:xfrm>
            <a:off x="1643725" y="2620060"/>
            <a:ext cx="4693066" cy="199644"/>
          </a:xfrm>
          <a:prstGeom prst="rect">
            <a:avLst/>
          </a:prstGeom>
          <a:noFill/>
        </p:spPr>
        <p:txBody>
          <a:bodyPr wrap="square" anchor="t" lIns="0" rIns="0" tIns="0" bIns="0">
            <a:spAutoFit/>
          </a:bodyPr>
          <a:lstStyle/>
          <a:p>
            <a:pPr algn="r">
              <a:lnSpc>
                <a:spcPct val="100000"/>
              </a:lnSpc>
              <a:spcAft>
                <a:spcPts val="0"/>
              </a:spcAft>
            </a:pPr>
            <a:r>
              <a:rPr sz="950" b="0" i="1">
                <a:solidFill>
                  <a:srgbClr val="5F6B64"/>
                </a:solidFill>
                <a:latin typeface="Calibri"/>
              </a:rPr>
              <a:t>hello</a:t>
            </a:r>
          </a:p>
        </p:txBody>
      </p:sp>
      <p:sp>
        <p:nvSpPr>
          <p:cNvPr id="10" name="Rounded Rectangle 9"/>
          <p:cNvSpPr/>
          <p:nvPr/>
        </p:nvSpPr>
        <p:spPr>
          <a:xfrm>
            <a:off x="749808" y="2938576"/>
            <a:ext cx="4693066" cy="740664"/>
          </a:xfrm>
          <a:prstGeom prst="roundRect">
            <a:avLst>
              <a:gd name="adj" fmla="val 23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200" b="0" i="0">
                <a:solidFill>
                  <a:srgbClr val="1E2B24"/>
                </a:solidFill>
                <a:latin typeface="Calibri"/>
              </a:rPr>
              <a:t>¿Qué quiere usar? 1 Solo satélite (no necesita nada) 2 Satélite y su dron 3 Satélite, dron y camara térmica (plagas). Siempre puede cambiar con PLAN.</a:t>
            </a:r>
          </a:p>
        </p:txBody>
      </p:sp>
      <p:sp>
        <p:nvSpPr>
          <p:cNvPr id="11" name="TextBox 10"/>
          <p:cNvSpPr txBox="1"/>
          <p:nvPr/>
        </p:nvSpPr>
        <p:spPr>
          <a:xfrm>
            <a:off x="768096" y="3706672"/>
            <a:ext cx="4693066" cy="489203"/>
          </a:xfrm>
          <a:prstGeom prst="rect">
            <a:avLst/>
          </a:prstGeom>
          <a:noFill/>
        </p:spPr>
        <p:txBody>
          <a:bodyPr wrap="square" anchor="t" lIns="0" rIns="0" tIns="0" bIns="0">
            <a:spAutoFit/>
          </a:bodyPr>
          <a:lstStyle/>
          <a:p>
            <a:pPr algn="l">
              <a:lnSpc>
                <a:spcPct val="100000"/>
              </a:lnSpc>
              <a:spcAft>
                <a:spcPts val="0"/>
              </a:spcAft>
            </a:pPr>
            <a:r>
              <a:rPr sz="950" b="0" i="1">
                <a:solidFill>
                  <a:srgbClr val="5F6B64"/>
                </a:solidFill>
                <a:latin typeface="Calibri"/>
              </a:rPr>
              <a:t>What would you like to use? 1 Satellite only (you need nothing) 2 Satellite and your drone 3 Satellite, drone and thermal camera (pests). Change any time with PLAN.</a:t>
            </a:r>
          </a:p>
        </p:txBody>
      </p:sp>
      <p:sp>
        <p:nvSpPr>
          <p:cNvPr id="12" name="Rounded Rectangle 11"/>
          <p:cNvSpPr/>
          <p:nvPr/>
        </p:nvSpPr>
        <p:spPr>
          <a:xfrm>
            <a:off x="5513831" y="4314748"/>
            <a:ext cx="822960" cy="368808"/>
          </a:xfrm>
          <a:prstGeom prst="roundRect">
            <a:avLst>
              <a:gd name="adj" fmla="val 47603"/>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200" b="0" i="0">
                <a:solidFill>
                  <a:srgbClr val="FFFFFF"/>
                </a:solidFill>
                <a:latin typeface="Calibri"/>
              </a:rPr>
              <a:t>3</a:t>
            </a:r>
          </a:p>
        </p:txBody>
      </p:sp>
      <p:sp>
        <p:nvSpPr>
          <p:cNvPr id="13" name="Rounded Rectangle 12"/>
          <p:cNvSpPr/>
          <p:nvPr/>
        </p:nvSpPr>
        <p:spPr>
          <a:xfrm>
            <a:off x="749808" y="4829860"/>
            <a:ext cx="4693066" cy="740664"/>
          </a:xfrm>
          <a:prstGeom prst="roundRect">
            <a:avLst>
              <a:gd name="adj" fmla="val 23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200" b="0" i="0">
                <a:solidFill>
                  <a:srgbClr val="1E2B24"/>
                </a:solidFill>
                <a:latin typeface="Calibri"/>
              </a:rPr>
              <a:t>Nota: para volar un dron sobre su rancho la ley pide licencia FAA Parte 107 (examen de $175). Usted decide si la saca, si contrata a alguien o si se queda solo con el satélite.</a:t>
            </a:r>
          </a:p>
        </p:txBody>
      </p:sp>
      <p:sp>
        <p:nvSpPr>
          <p:cNvPr id="14" name="TextBox 13"/>
          <p:cNvSpPr txBox="1"/>
          <p:nvPr/>
        </p:nvSpPr>
        <p:spPr>
          <a:xfrm>
            <a:off x="768096" y="5597956"/>
            <a:ext cx="4693066" cy="489203"/>
          </a:xfrm>
          <a:prstGeom prst="rect">
            <a:avLst/>
          </a:prstGeom>
          <a:noFill/>
        </p:spPr>
        <p:txBody>
          <a:bodyPr wrap="square" anchor="t" lIns="0" rIns="0" tIns="0" bIns="0">
            <a:spAutoFit/>
          </a:bodyPr>
          <a:lstStyle/>
          <a:p>
            <a:pPr algn="l">
              <a:lnSpc>
                <a:spcPct val="100000"/>
              </a:lnSpc>
              <a:spcAft>
                <a:spcPts val="0"/>
              </a:spcAft>
            </a:pPr>
            <a:r>
              <a:rPr sz="950" b="0" i="1">
                <a:solidFill>
                  <a:srgbClr val="5F6B64"/>
                </a:solidFill>
                <a:latin typeface="Calibri"/>
              </a:rPr>
              <a:t>Note: to fly a drone over your farm the law asks for an FAA Part 107 licence ($175 exam). Up to you whether to get it, hire someone, or stay on satellite only.</a:t>
            </a:r>
          </a:p>
        </p:txBody>
      </p:sp>
      <p:sp>
        <p:nvSpPr>
          <p:cNvPr id="15" name="TextBox 14"/>
          <p:cNvSpPr txBox="1"/>
          <p:nvPr/>
        </p:nvSpPr>
        <p:spPr>
          <a:xfrm>
            <a:off x="6903720" y="1600200"/>
            <a:ext cx="4739335" cy="914400"/>
          </a:xfrm>
          <a:prstGeom prst="rect">
            <a:avLst/>
          </a:prstGeom>
          <a:noFill/>
        </p:spPr>
        <p:txBody>
          <a:bodyPr wrap="square" anchor="t" lIns="0" rIns="0" tIns="0" bIns="0">
            <a:spAutoFit/>
          </a:bodyPr>
          <a:lstStyle/>
          <a:p>
            <a:pPr algn="l">
              <a:lnSpc>
                <a:spcPct val="105000"/>
              </a:lnSpc>
              <a:spcAft>
                <a:spcPts val="0"/>
              </a:spcAft>
            </a:pPr>
            <a:r>
              <a:rPr sz="2200" b="1" i="0">
                <a:solidFill>
                  <a:srgbClr val="1E2B24"/>
                </a:solidFill>
                <a:latin typeface="Century Schoolbook"/>
              </a:rPr>
              <a:t>No app, no password, any phone.</a:t>
            </a:r>
          </a:p>
        </p:txBody>
      </p:sp>
      <p:sp>
        <p:nvSpPr>
          <p:cNvPr id="16" name="TextBox 15"/>
          <p:cNvSpPr txBox="1"/>
          <p:nvPr/>
        </p:nvSpPr>
        <p:spPr>
          <a:xfrm>
            <a:off x="6903720" y="2514600"/>
            <a:ext cx="4739335" cy="411480"/>
          </a:xfrm>
          <a:prstGeom prst="rect">
            <a:avLst/>
          </a:prstGeom>
          <a:noFill/>
        </p:spPr>
        <p:txBody>
          <a:bodyPr wrap="square" anchor="t" lIns="0" rIns="0" tIns="0" bIns="0">
            <a:spAutoFit/>
          </a:bodyPr>
          <a:lstStyle/>
          <a:p>
            <a:pPr algn="l">
              <a:lnSpc>
                <a:spcPct val="105000"/>
              </a:lnSpc>
              <a:spcAft>
                <a:spcPts val="0"/>
              </a:spcAft>
            </a:pPr>
            <a:r>
              <a:rPr sz="1600" b="0" i="0">
                <a:solidFill>
                  <a:srgbClr val="5F6B64"/>
                </a:solidFill>
                <a:latin typeface="Calibri"/>
              </a:rPr>
              <a:t>Then it asks, one question at a time:</a:t>
            </a:r>
          </a:p>
        </p:txBody>
      </p:sp>
      <p:sp>
        <p:nvSpPr>
          <p:cNvPr id="17" name="Oval 16"/>
          <p:cNvSpPr/>
          <p:nvPr/>
        </p:nvSpPr>
        <p:spPr>
          <a:xfrm>
            <a:off x="6903720" y="3063240"/>
            <a:ext cx="146304" cy="14630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96328" y="2971800"/>
            <a:ext cx="4446727" cy="384048"/>
          </a:xfrm>
          <a:prstGeom prst="rect">
            <a:avLst/>
          </a:prstGeom>
          <a:noFill/>
        </p:spPr>
        <p:txBody>
          <a:bodyPr wrap="square" anchor="t" lIns="0" rIns="0" tIns="0" bIns="0">
            <a:spAutoFit/>
          </a:bodyPr>
          <a:lstStyle/>
          <a:p>
            <a:pPr algn="l">
              <a:lnSpc>
                <a:spcPct val="105000"/>
              </a:lnSpc>
              <a:spcAft>
                <a:spcPts val="0"/>
              </a:spcAft>
            </a:pPr>
            <a:r>
              <a:rPr sz="1600" b="0" i="0">
                <a:solidFill>
                  <a:srgbClr val="1E2B24"/>
                </a:solidFill>
                <a:latin typeface="Calibri"/>
              </a:rPr>
              <a:t>What the field is called</a:t>
            </a:r>
          </a:p>
        </p:txBody>
      </p:sp>
      <p:sp>
        <p:nvSpPr>
          <p:cNvPr id="19" name="Oval 18"/>
          <p:cNvSpPr/>
          <p:nvPr/>
        </p:nvSpPr>
        <p:spPr>
          <a:xfrm>
            <a:off x="6903720" y="3465576"/>
            <a:ext cx="146304" cy="14630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6328" y="3374136"/>
            <a:ext cx="4446727" cy="384048"/>
          </a:xfrm>
          <a:prstGeom prst="rect">
            <a:avLst/>
          </a:prstGeom>
          <a:noFill/>
        </p:spPr>
        <p:txBody>
          <a:bodyPr wrap="square" anchor="t" lIns="0" rIns="0" tIns="0" bIns="0">
            <a:spAutoFit/>
          </a:bodyPr>
          <a:lstStyle/>
          <a:p>
            <a:pPr algn="l">
              <a:lnSpc>
                <a:spcPct val="105000"/>
              </a:lnSpc>
              <a:spcAft>
                <a:spcPts val="0"/>
              </a:spcAft>
            </a:pPr>
            <a:r>
              <a:rPr sz="1600" b="0" i="0">
                <a:solidFill>
                  <a:srgbClr val="1E2B24"/>
                </a:solidFill>
                <a:latin typeface="Calibri"/>
              </a:rPr>
              <a:t>About how many acres</a:t>
            </a:r>
          </a:p>
        </p:txBody>
      </p:sp>
      <p:sp>
        <p:nvSpPr>
          <p:cNvPr id="21" name="Oval 20"/>
          <p:cNvSpPr/>
          <p:nvPr/>
        </p:nvSpPr>
        <p:spPr>
          <a:xfrm>
            <a:off x="6903720" y="3867911"/>
            <a:ext cx="146304" cy="14630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96328" y="3776472"/>
            <a:ext cx="4446727" cy="384048"/>
          </a:xfrm>
          <a:prstGeom prst="rect">
            <a:avLst/>
          </a:prstGeom>
          <a:noFill/>
        </p:spPr>
        <p:txBody>
          <a:bodyPr wrap="square" anchor="t" lIns="0" rIns="0" tIns="0" bIns="0">
            <a:spAutoFit/>
          </a:bodyPr>
          <a:lstStyle/>
          <a:p>
            <a:pPr algn="l">
              <a:lnSpc>
                <a:spcPct val="105000"/>
              </a:lnSpc>
              <a:spcAft>
                <a:spcPts val="0"/>
              </a:spcAft>
            </a:pPr>
            <a:r>
              <a:rPr sz="1600" b="0" i="0">
                <a:solidFill>
                  <a:srgbClr val="1E2B24"/>
                </a:solidFill>
                <a:latin typeface="Calibri"/>
              </a:rPr>
              <a:t>Where it is: a map pin</a:t>
            </a:r>
          </a:p>
        </p:txBody>
      </p:sp>
      <p:sp>
        <p:nvSpPr>
          <p:cNvPr id="23" name="Oval 22"/>
          <p:cNvSpPr/>
          <p:nvPr/>
        </p:nvSpPr>
        <p:spPr>
          <a:xfrm>
            <a:off x="6903720" y="4270248"/>
            <a:ext cx="146304" cy="14630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96328" y="4178808"/>
            <a:ext cx="4446727" cy="384048"/>
          </a:xfrm>
          <a:prstGeom prst="rect">
            <a:avLst/>
          </a:prstGeom>
          <a:noFill/>
        </p:spPr>
        <p:txBody>
          <a:bodyPr wrap="square" anchor="t" lIns="0" rIns="0" tIns="0" bIns="0">
            <a:spAutoFit/>
          </a:bodyPr>
          <a:lstStyle/>
          <a:p>
            <a:pPr algn="l">
              <a:lnSpc>
                <a:spcPct val="105000"/>
              </a:lnSpc>
              <a:spcAft>
                <a:spcPts val="0"/>
              </a:spcAft>
            </a:pPr>
            <a:r>
              <a:rPr sz="1600" b="0" i="0">
                <a:solidFill>
                  <a:srgbClr val="1E2B24"/>
                </a:solidFill>
                <a:latin typeface="Calibri"/>
              </a:rPr>
              <a:t>What's planted, and when</a:t>
            </a:r>
          </a:p>
        </p:txBody>
      </p:sp>
      <p:sp>
        <p:nvSpPr>
          <p:cNvPr id="25" name="Oval 24"/>
          <p:cNvSpPr/>
          <p:nvPr/>
        </p:nvSpPr>
        <p:spPr>
          <a:xfrm>
            <a:off x="6903720" y="4672583"/>
            <a:ext cx="146304" cy="14630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96328" y="4581144"/>
            <a:ext cx="4446727" cy="384048"/>
          </a:xfrm>
          <a:prstGeom prst="rect">
            <a:avLst/>
          </a:prstGeom>
          <a:noFill/>
        </p:spPr>
        <p:txBody>
          <a:bodyPr wrap="square" anchor="t" lIns="0" rIns="0" tIns="0" bIns="0">
            <a:spAutoFit/>
          </a:bodyPr>
          <a:lstStyle/>
          <a:p>
            <a:pPr algn="l">
              <a:lnSpc>
                <a:spcPct val="105000"/>
              </a:lnSpc>
              <a:spcAft>
                <a:spcPts val="0"/>
              </a:spcAft>
            </a:pPr>
            <a:r>
              <a:rPr sz="1600" b="0" i="0">
                <a:solidFill>
                  <a:srgbClr val="1E2B24"/>
                </a:solidFill>
                <a:latin typeface="Calibri"/>
              </a:rPr>
              <a:t>How it's watered</a:t>
            </a:r>
          </a:p>
        </p:txBody>
      </p:sp>
      <p:sp>
        <p:nvSpPr>
          <p:cNvPr id="27" name="Oval 26"/>
          <p:cNvSpPr/>
          <p:nvPr/>
        </p:nvSpPr>
        <p:spPr>
          <a:xfrm>
            <a:off x="6903720" y="5074920"/>
            <a:ext cx="146304" cy="14630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96328" y="4983480"/>
            <a:ext cx="4446727" cy="384048"/>
          </a:xfrm>
          <a:prstGeom prst="rect">
            <a:avLst/>
          </a:prstGeom>
          <a:noFill/>
        </p:spPr>
        <p:txBody>
          <a:bodyPr wrap="square" anchor="t" lIns="0" rIns="0" tIns="0" bIns="0">
            <a:spAutoFit/>
          </a:bodyPr>
          <a:lstStyle/>
          <a:p>
            <a:pPr algn="l">
              <a:lnSpc>
                <a:spcPct val="105000"/>
              </a:lnSpc>
              <a:spcAft>
                <a:spcPts val="0"/>
              </a:spcAft>
            </a:pPr>
            <a:r>
              <a:rPr sz="1600" b="0" i="0">
                <a:solidFill>
                  <a:srgbClr val="1E2B24"/>
                </a:solidFill>
                <a:latin typeface="Calibri"/>
              </a:rPr>
              <a:t>The last time it was watered</a:t>
            </a:r>
          </a:p>
        </p:txBody>
      </p:sp>
      <p:sp>
        <p:nvSpPr>
          <p:cNvPr id="29" name="Rounded Rectangle 28"/>
          <p:cNvSpPr/>
          <p:nvPr/>
        </p:nvSpPr>
        <p:spPr>
          <a:xfrm>
            <a:off x="6903720" y="5440680"/>
            <a:ext cx="4739335" cy="868680"/>
          </a:xfrm>
          <a:prstGeom prst="roundRect">
            <a:avLst>
              <a:gd name="adj" fmla="val 10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0" y="5486400"/>
            <a:ext cx="4327855" cy="777240"/>
          </a:xfrm>
          <a:prstGeom prst="rect">
            <a:avLst/>
          </a:prstGeom>
          <a:noFill/>
        </p:spPr>
        <p:txBody>
          <a:bodyPr wrap="square" anchor="ctr" lIns="0" rIns="0" tIns="0" bIns="0">
            <a:spAutoFit/>
          </a:bodyPr>
          <a:lstStyle/>
          <a:p>
            <a:pPr algn="l">
              <a:lnSpc>
                <a:spcPct val="105000"/>
              </a:lnSpc>
              <a:spcAft>
                <a:spcPts val="0"/>
              </a:spcAft>
            </a:pPr>
            <a:r>
              <a:rPr sz="1500" b="1" i="0">
                <a:solidFill>
                  <a:srgbClr val="1E2B24"/>
                </a:solidFill>
                <a:latin typeface="Calibri"/>
              </a:rPr>
              <a:t>Option 1 needs nothing at all. Nobody is told they need a drone.</a:t>
            </a:r>
          </a:p>
        </p:txBody>
      </p:sp>
      <p:sp>
        <p:nvSpPr>
          <p:cNvPr id="31" name="Oval 30"/>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9</a:t>
            </a:r>
          </a:p>
        </p:txBody>
      </p:sp>
      <p:sp>
        <p:nvSpPr>
          <p:cNvPr id="3" name="Rounded Rectangle 2"/>
          <p:cNvSpPr/>
          <p:nvPr/>
        </p:nvSpPr>
        <p:spPr>
          <a:xfrm>
            <a:off x="548640" y="109728"/>
            <a:ext cx="1325880" cy="329184"/>
          </a:xfrm>
          <a:prstGeom prst="roundRect">
            <a:avLst>
              <a:gd name="adj" fmla="val 50000"/>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Calibri"/>
              </a:rPr>
              <a:t>DEMO  2 / 5</a:t>
            </a:r>
          </a:p>
        </p:txBody>
      </p:sp>
      <p:sp>
        <p:nvSpPr>
          <p:cNvPr id="4" name="TextBox 3"/>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One word, "AGUA", gets a plain answer</a:t>
            </a:r>
          </a:p>
        </p:txBody>
      </p:sp>
      <p:sp>
        <p:nvSpPr>
          <p:cNvPr id="5" name="Rounded Rectangle 4"/>
          <p:cNvSpPr/>
          <p:nvPr/>
        </p:nvSpPr>
        <p:spPr>
          <a:xfrm>
            <a:off x="548640" y="1600200"/>
            <a:ext cx="5989320" cy="4754880"/>
          </a:xfrm>
          <a:prstGeom prst="roundRect">
            <a:avLst>
              <a:gd name="adj" fmla="val 4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746504"/>
            <a:ext cx="310896" cy="310896"/>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1709928"/>
            <a:ext cx="5129783" cy="411480"/>
          </a:xfrm>
          <a:prstGeom prst="rect">
            <a:avLst/>
          </a:prstGeom>
          <a:noFill/>
        </p:spPr>
        <p:txBody>
          <a:bodyPr wrap="square" anchor="ctr" lIns="0" rIns="0" tIns="0" bIns="0">
            <a:spAutoFit/>
          </a:bodyPr>
          <a:lstStyle/>
          <a:p>
            <a:pPr algn="l">
              <a:lnSpc>
                <a:spcPct val="105000"/>
              </a:lnSpc>
              <a:spcAft>
                <a:spcPts val="0"/>
              </a:spcAft>
            </a:pPr>
            <a:r>
              <a:rPr sz="1300" b="1" i="0">
                <a:solidFill>
                  <a:srgbClr val="1E2B24"/>
                </a:solidFill>
                <a:latin typeface="Calibri"/>
              </a:rPr>
              <a:t>Dos Ojos</a:t>
            </a:r>
            <a:r>
              <a:rPr sz="1100" b="0" i="0">
                <a:solidFill>
                  <a:srgbClr val="5F6B64"/>
                </a:solidFill>
                <a:latin typeface="Calibri"/>
              </a:rPr>
              <a:t>   text messages with Juan (made up)</a:t>
            </a:r>
          </a:p>
        </p:txBody>
      </p:sp>
      <p:sp>
        <p:nvSpPr>
          <p:cNvPr id="8" name="Rounded Rectangle 7"/>
          <p:cNvSpPr/>
          <p:nvPr/>
        </p:nvSpPr>
        <p:spPr>
          <a:xfrm>
            <a:off x="749808" y="2223820"/>
            <a:ext cx="4693066" cy="539242"/>
          </a:xfrm>
          <a:prstGeom prst="roundRect">
            <a:avLst>
              <a:gd name="adj" fmla="val 325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150" b="0" i="0">
                <a:solidFill>
                  <a:srgbClr val="1E2B24"/>
                </a:solidFill>
                <a:latin typeface="Calibri"/>
              </a:rPr>
              <a:t>Aviso Dos Ojos: Algodon Lyford necesitara agua en 1 dia, antes del mié 21 may. Si ya rego, mande REGUE y la fecha.</a:t>
            </a:r>
          </a:p>
        </p:txBody>
      </p:sp>
      <p:sp>
        <p:nvSpPr>
          <p:cNvPr id="9" name="TextBox 8"/>
          <p:cNvSpPr txBox="1"/>
          <p:nvPr/>
        </p:nvSpPr>
        <p:spPr>
          <a:xfrm>
            <a:off x="768096" y="2790494"/>
            <a:ext cx="4693066" cy="329184"/>
          </a:xfrm>
          <a:prstGeom prst="rect">
            <a:avLst/>
          </a:prstGeom>
          <a:noFill/>
        </p:spPr>
        <p:txBody>
          <a:bodyPr wrap="square" anchor="t" lIns="0" rIns="0" tIns="0" bIns="0">
            <a:spAutoFit/>
          </a:bodyPr>
          <a:lstStyle/>
          <a:p>
            <a:pPr algn="l">
              <a:lnSpc>
                <a:spcPct val="100000"/>
              </a:lnSpc>
              <a:spcAft>
                <a:spcPts val="0"/>
              </a:spcAft>
            </a:pPr>
            <a:r>
              <a:rPr sz="900" b="0" i="1">
                <a:solidFill>
                  <a:srgbClr val="5F6B64"/>
                </a:solidFill>
                <a:latin typeface="Calibri"/>
              </a:rPr>
              <a:t>Dos Ojos alert: Algodon Lyford will need water in 1 day, by Wed May 21. If you already watered, text WATERED and the date.</a:t>
            </a:r>
          </a:p>
        </p:txBody>
      </p:sp>
      <p:sp>
        <p:nvSpPr>
          <p:cNvPr id="10" name="Rounded Rectangle 9"/>
          <p:cNvSpPr/>
          <p:nvPr/>
        </p:nvSpPr>
        <p:spPr>
          <a:xfrm>
            <a:off x="5513831" y="3238550"/>
            <a:ext cx="822960" cy="361061"/>
          </a:xfrm>
          <a:prstGeom prst="roundRect">
            <a:avLst>
              <a:gd name="adj" fmla="val 48624"/>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150" b="0" i="0">
                <a:solidFill>
                  <a:srgbClr val="FFFFFF"/>
                </a:solidFill>
                <a:latin typeface="Calibri"/>
              </a:rPr>
              <a:t>AGUA</a:t>
            </a:r>
          </a:p>
        </p:txBody>
      </p:sp>
      <p:sp>
        <p:nvSpPr>
          <p:cNvPr id="11" name="TextBox 10"/>
          <p:cNvSpPr txBox="1"/>
          <p:nvPr/>
        </p:nvSpPr>
        <p:spPr>
          <a:xfrm>
            <a:off x="1643725" y="3627043"/>
            <a:ext cx="4693066" cy="192024"/>
          </a:xfrm>
          <a:prstGeom prst="rect">
            <a:avLst/>
          </a:prstGeom>
          <a:noFill/>
        </p:spPr>
        <p:txBody>
          <a:bodyPr wrap="square" anchor="t" lIns="0" rIns="0" tIns="0" bIns="0">
            <a:spAutoFit/>
          </a:bodyPr>
          <a:lstStyle/>
          <a:p>
            <a:pPr algn="r">
              <a:lnSpc>
                <a:spcPct val="100000"/>
              </a:lnSpc>
              <a:spcAft>
                <a:spcPts val="0"/>
              </a:spcAft>
            </a:pPr>
            <a:r>
              <a:rPr sz="900" b="0" i="1">
                <a:solidFill>
                  <a:srgbClr val="5F6B64"/>
                </a:solidFill>
                <a:latin typeface="Calibri"/>
              </a:rPr>
              <a:t>WATER</a:t>
            </a:r>
          </a:p>
        </p:txBody>
      </p:sp>
      <p:sp>
        <p:nvSpPr>
          <p:cNvPr id="12" name="Rounded Rectangle 11"/>
          <p:cNvSpPr/>
          <p:nvPr/>
        </p:nvSpPr>
        <p:spPr>
          <a:xfrm>
            <a:off x="749808" y="3937939"/>
            <a:ext cx="4693066" cy="717422"/>
          </a:xfrm>
          <a:prstGeom prst="roundRect">
            <a:avLst>
              <a:gd name="adj" fmla="val 2447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150" b="0" i="0">
                <a:solidFill>
                  <a:srgbClr val="1E2B24"/>
                </a:solidFill>
                <a:latin typeface="Calibri"/>
              </a:rPr>
              <a:t>Algodon Lyford (algodon): tiene agua para 1 dia (0 a 2); riegue antes del mié 21 may, unas 3.7 pulgadas por surcos. Esta en floracion: no lo deje secar.</a:t>
            </a:r>
          </a:p>
        </p:txBody>
      </p:sp>
      <p:sp>
        <p:nvSpPr>
          <p:cNvPr id="13" name="TextBox 12"/>
          <p:cNvSpPr txBox="1"/>
          <p:nvPr/>
        </p:nvSpPr>
        <p:spPr>
          <a:xfrm>
            <a:off x="768096" y="4682794"/>
            <a:ext cx="4693066" cy="329184"/>
          </a:xfrm>
          <a:prstGeom prst="rect">
            <a:avLst/>
          </a:prstGeom>
          <a:noFill/>
        </p:spPr>
        <p:txBody>
          <a:bodyPr wrap="square" anchor="t" lIns="0" rIns="0" tIns="0" bIns="0">
            <a:spAutoFit/>
          </a:bodyPr>
          <a:lstStyle/>
          <a:p>
            <a:pPr algn="l">
              <a:lnSpc>
                <a:spcPct val="100000"/>
              </a:lnSpc>
              <a:spcAft>
                <a:spcPts val="0"/>
              </a:spcAft>
            </a:pPr>
            <a:r>
              <a:rPr sz="900" b="0" i="1">
                <a:solidFill>
                  <a:srgbClr val="5F6B64"/>
                </a:solidFill>
                <a:latin typeface="Calibri"/>
              </a:rPr>
              <a:t>Algodon Lyford (cotton): water for 1 day (0 to 2); water by Wed May 21, about 3.7 inches by furrows. It's at bloom: don't let it dry out.</a:t>
            </a:r>
          </a:p>
        </p:txBody>
      </p:sp>
      <p:sp>
        <p:nvSpPr>
          <p:cNvPr id="14" name="Rounded Rectangle 13"/>
          <p:cNvSpPr/>
          <p:nvPr/>
        </p:nvSpPr>
        <p:spPr>
          <a:xfrm>
            <a:off x="749808" y="5130850"/>
            <a:ext cx="4693066" cy="539242"/>
          </a:xfrm>
          <a:prstGeom prst="roundRect">
            <a:avLst>
              <a:gd name="adj" fmla="val 325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150" b="0" i="0">
                <a:solidFill>
                  <a:srgbClr val="1E2B24"/>
                </a:solidFill>
                <a:latin typeface="Calibri"/>
              </a:rPr>
              <a:t>Maiz Lyford (maiz): tiene agua para unos 5 dias (3 a 7); riegue antes del dom 25 may, unas 4.1 pulgadas por surcos.</a:t>
            </a:r>
          </a:p>
        </p:txBody>
      </p:sp>
      <p:sp>
        <p:nvSpPr>
          <p:cNvPr id="15" name="TextBox 14"/>
          <p:cNvSpPr txBox="1"/>
          <p:nvPr/>
        </p:nvSpPr>
        <p:spPr>
          <a:xfrm>
            <a:off x="768096" y="5697524"/>
            <a:ext cx="4693066" cy="329184"/>
          </a:xfrm>
          <a:prstGeom prst="rect">
            <a:avLst/>
          </a:prstGeom>
          <a:noFill/>
        </p:spPr>
        <p:txBody>
          <a:bodyPr wrap="square" anchor="t" lIns="0" rIns="0" tIns="0" bIns="0">
            <a:spAutoFit/>
          </a:bodyPr>
          <a:lstStyle/>
          <a:p>
            <a:pPr algn="l">
              <a:lnSpc>
                <a:spcPct val="100000"/>
              </a:lnSpc>
              <a:spcAft>
                <a:spcPts val="0"/>
              </a:spcAft>
            </a:pPr>
            <a:r>
              <a:rPr sz="900" b="0" i="1">
                <a:solidFill>
                  <a:srgbClr val="5F6B64"/>
                </a:solidFill>
                <a:latin typeface="Calibri"/>
              </a:rPr>
              <a:t>Maiz Lyford (corn): water for about 5 days (3 to 7); water by Sun May 25, about 4.1 inches by furrows.</a:t>
            </a:r>
          </a:p>
        </p:txBody>
      </p:sp>
      <p:sp>
        <p:nvSpPr>
          <p:cNvPr id="16" name="Oval 15"/>
          <p:cNvSpPr/>
          <p:nvPr/>
        </p:nvSpPr>
        <p:spPr>
          <a:xfrm>
            <a:off x="6903720" y="1700784"/>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645920"/>
            <a:ext cx="432785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The alert came first</a:t>
            </a:r>
          </a:p>
          <a:p>
            <a:pPr algn="l">
              <a:lnSpc>
                <a:spcPct val="108000"/>
              </a:lnSpc>
              <a:spcAft>
                <a:spcPts val="0"/>
              </a:spcAft>
            </a:pPr>
            <a:r>
              <a:rPr sz="1500" b="0" i="0">
                <a:solidFill>
                  <a:srgbClr val="5F6B64"/>
                </a:solidFill>
                <a:latin typeface="Calibri"/>
              </a:rPr>
              <a:t>Juan didn't have to ask. The cotton was a day from running dry.</a:t>
            </a:r>
          </a:p>
        </p:txBody>
      </p:sp>
      <p:sp>
        <p:nvSpPr>
          <p:cNvPr id="18" name="Oval 17"/>
          <p:cNvSpPr/>
          <p:nvPr/>
        </p:nvSpPr>
        <p:spPr>
          <a:xfrm>
            <a:off x="6903720" y="2980944"/>
            <a:ext cx="237744" cy="237744"/>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2926080"/>
            <a:ext cx="432785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Days left, with a range</a:t>
            </a:r>
          </a:p>
          <a:p>
            <a:pPr algn="l">
              <a:lnSpc>
                <a:spcPct val="108000"/>
              </a:lnSpc>
              <a:spcAft>
                <a:spcPts val="0"/>
              </a:spcAft>
            </a:pPr>
            <a:r>
              <a:rPr sz="1500" b="0" i="0">
                <a:solidFill>
                  <a:srgbClr val="5F6B64"/>
                </a:solidFill>
                <a:latin typeface="Calibri"/>
              </a:rPr>
              <a:t>Weather is never certain, so every answer says how sure it is.</a:t>
            </a:r>
          </a:p>
        </p:txBody>
      </p:sp>
      <p:sp>
        <p:nvSpPr>
          <p:cNvPr id="20" name="Oval 19"/>
          <p:cNvSpPr/>
          <p:nvPr/>
        </p:nvSpPr>
        <p:spPr>
          <a:xfrm>
            <a:off x="6903720" y="4261103"/>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4206240"/>
            <a:ext cx="432785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A date and an amount</a:t>
            </a:r>
          </a:p>
          <a:p>
            <a:pPr algn="l">
              <a:lnSpc>
                <a:spcPct val="108000"/>
              </a:lnSpc>
              <a:spcAft>
                <a:spcPts val="0"/>
              </a:spcAft>
            </a:pPr>
            <a:r>
              <a:rPr sz="1500" b="0" i="0">
                <a:solidFill>
                  <a:srgbClr val="5F6B64"/>
                </a:solidFill>
                <a:latin typeface="Calibri"/>
              </a:rPr>
              <a:t>Water by this day, about this many inches, the way he already waters.</a:t>
            </a:r>
          </a:p>
        </p:txBody>
      </p:sp>
      <p:sp>
        <p:nvSpPr>
          <p:cNvPr id="22" name="Oval 21"/>
          <p:cNvSpPr/>
          <p:nvPr/>
        </p:nvSpPr>
        <p:spPr>
          <a:xfrm>
            <a:off x="6903720" y="5541264"/>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5486400"/>
            <a:ext cx="432785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Why it matters now</a:t>
            </a:r>
          </a:p>
          <a:p>
            <a:pPr algn="l">
              <a:lnSpc>
                <a:spcPct val="108000"/>
              </a:lnSpc>
              <a:spcAft>
                <a:spcPts val="0"/>
              </a:spcAft>
            </a:pPr>
            <a:r>
              <a:rPr sz="1500" b="0" i="0">
                <a:solidFill>
                  <a:srgbClr val="5F6B64"/>
                </a:solidFill>
                <a:latin typeface="Calibri"/>
              </a:rPr>
              <a:t>The cotton is in bloom, when running dry hurts the most.</a:t>
            </a:r>
          </a:p>
        </p:txBody>
      </p:sp>
      <p:sp>
        <p:nvSpPr>
          <p:cNvPr id="24" name="Oval 23"/>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77295"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10</a:t>
            </a:r>
          </a:p>
        </p:txBody>
      </p:sp>
      <p:sp>
        <p:nvSpPr>
          <p:cNvPr id="3" name="Rounded Rectangle 2"/>
          <p:cNvSpPr/>
          <p:nvPr/>
        </p:nvSpPr>
        <p:spPr>
          <a:xfrm>
            <a:off x="548640" y="109728"/>
            <a:ext cx="1325880" cy="329184"/>
          </a:xfrm>
          <a:prstGeom prst="roundRect">
            <a:avLst>
              <a:gd name="adj" fmla="val 50000"/>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Calibri"/>
              </a:rPr>
              <a:t>DEMO  3 / 5</a:t>
            </a:r>
          </a:p>
        </p:txBody>
      </p:sp>
      <p:sp>
        <p:nvSpPr>
          <p:cNvPr id="4" name="TextBox 3"/>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Reply "PORQUE" to see the working</a:t>
            </a:r>
          </a:p>
        </p:txBody>
      </p:sp>
      <p:sp>
        <p:nvSpPr>
          <p:cNvPr id="5" name="Rounded Rectangle 4"/>
          <p:cNvSpPr/>
          <p:nvPr/>
        </p:nvSpPr>
        <p:spPr>
          <a:xfrm>
            <a:off x="548640" y="1600200"/>
            <a:ext cx="5989320" cy="3246120"/>
          </a:xfrm>
          <a:prstGeom prst="roundRect">
            <a:avLst>
              <a:gd name="adj" fmla="val 4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746504"/>
            <a:ext cx="310896" cy="310896"/>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1709928"/>
            <a:ext cx="5129783" cy="411480"/>
          </a:xfrm>
          <a:prstGeom prst="rect">
            <a:avLst/>
          </a:prstGeom>
          <a:noFill/>
        </p:spPr>
        <p:txBody>
          <a:bodyPr wrap="square" anchor="ctr" lIns="0" rIns="0" tIns="0" bIns="0">
            <a:spAutoFit/>
          </a:bodyPr>
          <a:lstStyle/>
          <a:p>
            <a:pPr algn="l">
              <a:lnSpc>
                <a:spcPct val="105000"/>
              </a:lnSpc>
              <a:spcAft>
                <a:spcPts val="0"/>
              </a:spcAft>
            </a:pPr>
            <a:r>
              <a:rPr sz="1300" b="1" i="0">
                <a:solidFill>
                  <a:srgbClr val="1E2B24"/>
                </a:solidFill>
                <a:latin typeface="Calibri"/>
              </a:rPr>
              <a:t>Dos Ojos</a:t>
            </a:r>
            <a:r>
              <a:rPr sz="1100" b="0" i="0">
                <a:solidFill>
                  <a:srgbClr val="5F6B64"/>
                </a:solidFill>
                <a:latin typeface="Calibri"/>
              </a:rPr>
              <a:t>   text messages with Juan (made up)</a:t>
            </a:r>
          </a:p>
        </p:txBody>
      </p:sp>
      <p:sp>
        <p:nvSpPr>
          <p:cNvPr id="8" name="Rounded Rectangle 7"/>
          <p:cNvSpPr/>
          <p:nvPr/>
        </p:nvSpPr>
        <p:spPr>
          <a:xfrm>
            <a:off x="749808" y="2223820"/>
            <a:ext cx="4693066" cy="508254"/>
          </a:xfrm>
          <a:prstGeom prst="roundRect">
            <a:avLst>
              <a:gd name="adj" fmla="val 345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050" b="0" i="0">
                <a:solidFill>
                  <a:srgbClr val="1E2B24"/>
                </a:solidFill>
                <a:latin typeface="Calibri"/>
              </a:rPr>
              <a:t>¿Quiere saber por qué? Responda PORQUE y le mando un archivo con las graficas.</a:t>
            </a:r>
          </a:p>
        </p:txBody>
      </p:sp>
      <p:sp>
        <p:nvSpPr>
          <p:cNvPr id="9" name="TextBox 8"/>
          <p:cNvSpPr txBox="1"/>
          <p:nvPr/>
        </p:nvSpPr>
        <p:spPr>
          <a:xfrm>
            <a:off x="768096" y="2759506"/>
            <a:ext cx="4693066" cy="176784"/>
          </a:xfrm>
          <a:prstGeom prst="rect">
            <a:avLst/>
          </a:prstGeom>
          <a:noFill/>
        </p:spPr>
        <p:txBody>
          <a:bodyPr wrap="square" anchor="t" lIns="0" rIns="0" tIns="0" bIns="0">
            <a:spAutoFit/>
          </a:bodyPr>
          <a:lstStyle/>
          <a:p>
            <a:pPr algn="l">
              <a:lnSpc>
                <a:spcPct val="100000"/>
              </a:lnSpc>
              <a:spcAft>
                <a:spcPts val="0"/>
              </a:spcAft>
            </a:pPr>
            <a:r>
              <a:rPr sz="800" b="0" i="1">
                <a:solidFill>
                  <a:srgbClr val="5F6B64"/>
                </a:solidFill>
                <a:latin typeface="Calibri"/>
              </a:rPr>
              <a:t>Want to know why? Reply WHY and I'll send you a file with the charts.</a:t>
            </a:r>
          </a:p>
        </p:txBody>
      </p:sp>
      <p:sp>
        <p:nvSpPr>
          <p:cNvPr id="10" name="Rounded Rectangle 9"/>
          <p:cNvSpPr/>
          <p:nvPr/>
        </p:nvSpPr>
        <p:spPr>
          <a:xfrm>
            <a:off x="5413248" y="3055162"/>
            <a:ext cx="923544" cy="345567"/>
          </a:xfrm>
          <a:prstGeom prst="roundRect">
            <a:avLst>
              <a:gd name="adj" fmla="val 50000"/>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050" b="0" i="0">
                <a:solidFill>
                  <a:srgbClr val="FFFFFF"/>
                </a:solidFill>
                <a:latin typeface="Calibri"/>
              </a:rPr>
              <a:t>PORQUE</a:t>
            </a:r>
          </a:p>
        </p:txBody>
      </p:sp>
      <p:sp>
        <p:nvSpPr>
          <p:cNvPr id="11" name="TextBox 10"/>
          <p:cNvSpPr txBox="1"/>
          <p:nvPr/>
        </p:nvSpPr>
        <p:spPr>
          <a:xfrm>
            <a:off x="1643725" y="3428161"/>
            <a:ext cx="4693066" cy="176784"/>
          </a:xfrm>
          <a:prstGeom prst="rect">
            <a:avLst/>
          </a:prstGeom>
          <a:noFill/>
        </p:spPr>
        <p:txBody>
          <a:bodyPr wrap="square" anchor="t" lIns="0" rIns="0" tIns="0" bIns="0">
            <a:spAutoFit/>
          </a:bodyPr>
          <a:lstStyle/>
          <a:p>
            <a:pPr algn="r">
              <a:lnSpc>
                <a:spcPct val="100000"/>
              </a:lnSpc>
              <a:spcAft>
                <a:spcPts val="0"/>
              </a:spcAft>
            </a:pPr>
            <a:r>
              <a:rPr sz="800" b="0" i="1">
                <a:solidFill>
                  <a:srgbClr val="5F6B64"/>
                </a:solidFill>
                <a:latin typeface="Calibri"/>
              </a:rPr>
              <a:t>WHY</a:t>
            </a:r>
          </a:p>
        </p:txBody>
      </p:sp>
      <p:sp>
        <p:nvSpPr>
          <p:cNvPr id="12" name="Rounded Rectangle 11"/>
          <p:cNvSpPr/>
          <p:nvPr/>
        </p:nvSpPr>
        <p:spPr>
          <a:xfrm>
            <a:off x="749808" y="3723817"/>
            <a:ext cx="4693066" cy="670940"/>
          </a:xfrm>
          <a:prstGeom prst="roundRect">
            <a:avLst>
              <a:gd name="adj" fmla="val 261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050" b="0" i="0">
                <a:solidFill>
                  <a:srgbClr val="1E2B24"/>
                </a:solidFill>
                <a:latin typeface="Calibri"/>
              </a:rPr>
              <a:t>Por qué Maiz Lyford: http://localhost:8080/r/3XSppiK5N7mfIs8L . Trae las graficas del satélite, la cuenta del agua y el terreno. El enlace dura 14 dias.</a:t>
            </a:r>
          </a:p>
        </p:txBody>
      </p:sp>
      <p:sp>
        <p:nvSpPr>
          <p:cNvPr id="13" name="TextBox 12"/>
          <p:cNvSpPr txBox="1"/>
          <p:nvPr/>
        </p:nvSpPr>
        <p:spPr>
          <a:xfrm>
            <a:off x="768096" y="4422190"/>
            <a:ext cx="4693066" cy="298704"/>
          </a:xfrm>
          <a:prstGeom prst="rect">
            <a:avLst/>
          </a:prstGeom>
          <a:noFill/>
        </p:spPr>
        <p:txBody>
          <a:bodyPr wrap="square" anchor="t" lIns="0" rIns="0" tIns="0" bIns="0">
            <a:spAutoFit/>
          </a:bodyPr>
          <a:lstStyle/>
          <a:p>
            <a:pPr algn="l">
              <a:lnSpc>
                <a:spcPct val="100000"/>
              </a:lnSpc>
              <a:spcAft>
                <a:spcPts val="0"/>
              </a:spcAft>
            </a:pPr>
            <a:r>
              <a:rPr sz="800" b="0" i="1">
                <a:solidFill>
                  <a:srgbClr val="5F6B64"/>
                </a:solidFill>
                <a:latin typeface="Calibri"/>
              </a:rPr>
              <a:t>Why Maiz Lyford: [link] . It has the satellite charts, the water arithmetic and the ground. The link lasts 14 days.</a:t>
            </a:r>
          </a:p>
        </p:txBody>
      </p:sp>
      <p:sp>
        <p:nvSpPr>
          <p:cNvPr id="14" name="TextBox 13"/>
          <p:cNvSpPr txBox="1"/>
          <p:nvPr/>
        </p:nvSpPr>
        <p:spPr>
          <a:xfrm>
            <a:off x="548640" y="5074920"/>
            <a:ext cx="5989320" cy="1280160"/>
          </a:xfrm>
          <a:prstGeom prst="rect">
            <a:avLst/>
          </a:prstGeom>
          <a:noFill/>
        </p:spPr>
        <p:txBody>
          <a:bodyPr wrap="square" anchor="t" lIns="0" rIns="0" tIns="0" bIns="0">
            <a:spAutoFit/>
          </a:bodyPr>
          <a:lstStyle/>
          <a:p>
            <a:pPr algn="l">
              <a:lnSpc>
                <a:spcPct val="105000"/>
              </a:lnSpc>
              <a:spcAft>
                <a:spcPts val="600"/>
              </a:spcAft>
            </a:pPr>
            <a:r>
              <a:rPr sz="1900" b="1" i="0">
                <a:solidFill>
                  <a:srgbClr val="1E2B24"/>
                </a:solidFill>
                <a:latin typeface="Century Schoolbook"/>
              </a:rPr>
              <a:t>A farmer asked to open a valve on our say-so is owed the arithmetic.</a:t>
            </a:r>
          </a:p>
          <a:p>
            <a:pPr algn="l">
              <a:lnSpc>
                <a:spcPct val="105000"/>
              </a:lnSpc>
              <a:spcAft>
                <a:spcPts val="0"/>
              </a:spcAft>
            </a:pPr>
            <a:r>
              <a:rPr sz="1500" b="0" i="0">
                <a:solidFill>
                  <a:srgbClr val="5F6B64"/>
                </a:solidFill>
                <a:latin typeface="Calibri"/>
              </a:rPr>
              <a:t>It's always an offer, never a file nobody asked for.</a:t>
            </a:r>
          </a:p>
        </p:txBody>
      </p:sp>
      <p:pic>
        <p:nvPicPr>
          <p:cNvPr id="15" name="Picture 14" descr="why_page.png"/>
          <p:cNvPicPr>
            <a:picLocks noChangeAspect="1"/>
          </p:cNvPicPr>
          <p:nvPr/>
        </p:nvPicPr>
        <p:blipFill>
          <a:blip r:embed="rId2"/>
          <a:stretch>
            <a:fillRect/>
          </a:stretch>
        </p:blipFill>
        <p:spPr>
          <a:xfrm>
            <a:off x="7218217" y="1508760"/>
            <a:ext cx="4110339" cy="4434840"/>
          </a:xfrm>
          <a:prstGeom prst="rect">
            <a:avLst/>
          </a:prstGeom>
          <a:ln w="9525">
            <a:solidFill>
              <a:srgbClr val="D5DCD6"/>
            </a:solidFill>
          </a:ln>
        </p:spPr>
      </p:pic>
      <p:sp>
        <p:nvSpPr>
          <p:cNvPr id="16" name="TextBox 15"/>
          <p:cNvSpPr txBox="1"/>
          <p:nvPr/>
        </p:nvSpPr>
        <p:spPr>
          <a:xfrm>
            <a:off x="6903720" y="6035040"/>
            <a:ext cx="4739335" cy="548640"/>
          </a:xfrm>
          <a:prstGeom prst="rect">
            <a:avLst/>
          </a:prstGeom>
          <a:noFill/>
        </p:spPr>
        <p:txBody>
          <a:bodyPr wrap="square" anchor="t" lIns="0" rIns="0" tIns="0" bIns="0">
            <a:spAutoFit/>
          </a:bodyPr>
          <a:lstStyle/>
          <a:p>
            <a:pPr algn="l">
              <a:lnSpc>
                <a:spcPct val="100000"/>
              </a:lnSpc>
              <a:spcAft>
                <a:spcPts val="0"/>
              </a:spcAft>
            </a:pPr>
            <a:r>
              <a:rPr sz="1050" b="0" i="0">
                <a:solidFill>
                  <a:srgbClr val="5F6B64"/>
                </a:solidFill>
                <a:latin typeface="Calibri"/>
              </a:rPr>
              <a:t>The page Juan opens: the same answer, the four steps with his field's own numbers, then the charts. It works saved or offline.</a:t>
            </a:r>
          </a:p>
        </p:txBody>
      </p:sp>
      <p:sp>
        <p:nvSpPr>
          <p:cNvPr id="17" name="Oval 16"/>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277295"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11</a:t>
            </a:r>
          </a:p>
        </p:txBody>
      </p:sp>
      <p:sp>
        <p:nvSpPr>
          <p:cNvPr id="3" name="Rounded Rectangle 2"/>
          <p:cNvSpPr/>
          <p:nvPr/>
        </p:nvSpPr>
        <p:spPr>
          <a:xfrm>
            <a:off x="548640" y="109728"/>
            <a:ext cx="1325880" cy="329184"/>
          </a:xfrm>
          <a:prstGeom prst="roundRect">
            <a:avLst>
              <a:gd name="adj" fmla="val 50000"/>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Calibri"/>
              </a:rPr>
              <a:t>DEMO  4 / 5</a:t>
            </a:r>
          </a:p>
        </p:txBody>
      </p:sp>
      <p:sp>
        <p:nvSpPr>
          <p:cNvPr id="4" name="TextBox 3"/>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Sorghum: stage and scouting by text</a:t>
            </a:r>
          </a:p>
        </p:txBody>
      </p:sp>
      <p:sp>
        <p:nvSpPr>
          <p:cNvPr id="5" name="Rounded Rectangle 4"/>
          <p:cNvSpPr/>
          <p:nvPr/>
        </p:nvSpPr>
        <p:spPr>
          <a:xfrm>
            <a:off x="548640" y="1600200"/>
            <a:ext cx="6172200" cy="4754880"/>
          </a:xfrm>
          <a:prstGeom prst="roundRect">
            <a:avLst>
              <a:gd name="adj" fmla="val 4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746504"/>
            <a:ext cx="310896" cy="310896"/>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1709928"/>
            <a:ext cx="5312664" cy="411480"/>
          </a:xfrm>
          <a:prstGeom prst="rect">
            <a:avLst/>
          </a:prstGeom>
          <a:noFill/>
        </p:spPr>
        <p:txBody>
          <a:bodyPr wrap="square" anchor="ctr" lIns="0" rIns="0" tIns="0" bIns="0">
            <a:spAutoFit/>
          </a:bodyPr>
          <a:lstStyle/>
          <a:p>
            <a:pPr algn="l">
              <a:lnSpc>
                <a:spcPct val="105000"/>
              </a:lnSpc>
              <a:spcAft>
                <a:spcPts val="0"/>
              </a:spcAft>
            </a:pPr>
            <a:r>
              <a:rPr sz="1300" b="1" i="0">
                <a:solidFill>
                  <a:srgbClr val="1E2B24"/>
                </a:solidFill>
                <a:latin typeface="Calibri"/>
              </a:rPr>
              <a:t>Dos Ojos</a:t>
            </a:r>
            <a:r>
              <a:rPr sz="1100" b="0" i="0">
                <a:solidFill>
                  <a:srgbClr val="5F6B64"/>
                </a:solidFill>
                <a:latin typeface="Calibri"/>
              </a:rPr>
              <a:t>   text messages with Maria (made up), dryland near Elsa</a:t>
            </a:r>
          </a:p>
        </p:txBody>
      </p:sp>
      <p:sp>
        <p:nvSpPr>
          <p:cNvPr id="8" name="Rounded Rectangle 7"/>
          <p:cNvSpPr/>
          <p:nvPr/>
        </p:nvSpPr>
        <p:spPr>
          <a:xfrm>
            <a:off x="749808" y="2223820"/>
            <a:ext cx="4846685" cy="740664"/>
          </a:xfrm>
          <a:prstGeom prst="roundRect">
            <a:avLst>
              <a:gd name="adj" fmla="val 23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200" b="0" i="0">
                <a:solidFill>
                  <a:srgbClr val="1E2B24"/>
                </a:solidFill>
                <a:latin typeface="Calibri"/>
              </a:rPr>
              <a:t>Dos Ojos: Sorgo Elsa va en floracion. Esta semana revise pulgon amarillo y mosquita (el umbral es 1 por panoja) y mande PULGON con lo que encuentre.</a:t>
            </a:r>
          </a:p>
        </p:txBody>
      </p:sp>
      <p:sp>
        <p:nvSpPr>
          <p:cNvPr id="9" name="TextBox 8"/>
          <p:cNvSpPr txBox="1"/>
          <p:nvPr/>
        </p:nvSpPr>
        <p:spPr>
          <a:xfrm>
            <a:off x="768096" y="2991916"/>
            <a:ext cx="4846685" cy="344424"/>
          </a:xfrm>
          <a:prstGeom prst="rect">
            <a:avLst/>
          </a:prstGeom>
          <a:noFill/>
        </p:spPr>
        <p:txBody>
          <a:bodyPr wrap="square" anchor="t" lIns="0" rIns="0" tIns="0" bIns="0">
            <a:spAutoFit/>
          </a:bodyPr>
          <a:lstStyle/>
          <a:p>
            <a:pPr algn="l">
              <a:lnSpc>
                <a:spcPct val="100000"/>
              </a:lnSpc>
              <a:spcAft>
                <a:spcPts val="0"/>
              </a:spcAft>
            </a:pPr>
            <a:r>
              <a:rPr sz="950" b="0" i="1">
                <a:solidFill>
                  <a:srgbClr val="5F6B64"/>
                </a:solidFill>
                <a:latin typeface="Calibri"/>
              </a:rPr>
              <a:t>Dos Ojos: Sorgo Elsa is at flowering. This week scout for sugarcane aphid and midge (the threshold is 1 per head) and text APHID with what you find.</a:t>
            </a:r>
          </a:p>
        </p:txBody>
      </p:sp>
      <p:sp>
        <p:nvSpPr>
          <p:cNvPr id="10" name="Rounded Rectangle 9"/>
          <p:cNvSpPr/>
          <p:nvPr/>
        </p:nvSpPr>
        <p:spPr>
          <a:xfrm>
            <a:off x="5620512" y="3455212"/>
            <a:ext cx="899160" cy="368808"/>
          </a:xfrm>
          <a:prstGeom prst="roundRect">
            <a:avLst>
              <a:gd name="adj" fmla="val 47603"/>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200" b="0" i="0">
                <a:solidFill>
                  <a:srgbClr val="FFFFFF"/>
                </a:solidFill>
                <a:latin typeface="Calibri"/>
              </a:rPr>
              <a:t>ETAPA</a:t>
            </a:r>
          </a:p>
        </p:txBody>
      </p:sp>
      <p:sp>
        <p:nvSpPr>
          <p:cNvPr id="11" name="TextBox 10"/>
          <p:cNvSpPr txBox="1"/>
          <p:nvPr/>
        </p:nvSpPr>
        <p:spPr>
          <a:xfrm>
            <a:off x="1672986" y="3851452"/>
            <a:ext cx="4846685" cy="199644"/>
          </a:xfrm>
          <a:prstGeom prst="rect">
            <a:avLst/>
          </a:prstGeom>
          <a:noFill/>
        </p:spPr>
        <p:txBody>
          <a:bodyPr wrap="square" anchor="t" lIns="0" rIns="0" tIns="0" bIns="0">
            <a:spAutoFit/>
          </a:bodyPr>
          <a:lstStyle/>
          <a:p>
            <a:pPr algn="r">
              <a:lnSpc>
                <a:spcPct val="100000"/>
              </a:lnSpc>
              <a:spcAft>
                <a:spcPts val="0"/>
              </a:spcAft>
            </a:pPr>
            <a:r>
              <a:rPr sz="950" b="0" i="1">
                <a:solidFill>
                  <a:srgbClr val="5F6B64"/>
                </a:solidFill>
                <a:latin typeface="Calibri"/>
              </a:rPr>
              <a:t>STAGE</a:t>
            </a:r>
          </a:p>
        </p:txBody>
      </p:sp>
      <p:sp>
        <p:nvSpPr>
          <p:cNvPr id="12" name="Rounded Rectangle 11"/>
          <p:cNvSpPr/>
          <p:nvPr/>
        </p:nvSpPr>
        <p:spPr>
          <a:xfrm>
            <a:off x="749808" y="4169968"/>
            <a:ext cx="4846685" cy="1112520"/>
          </a:xfrm>
          <a:prstGeom prst="roundRect">
            <a:avLst>
              <a:gd name="adj" fmla="val 1578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200" b="0" i="0">
                <a:solidFill>
                  <a:srgbClr val="1E2B24"/>
                </a:solidFill>
                <a:latin typeface="Calibri"/>
              </a:rPr>
              <a:t>Sorgo Elsa: va en floracion, dia 69 desde la siembra. Sigue grano masoso hacia el sab 31 may. Esta etapa decide la cosecha. Revise mosquita cada 3 dias, de 10 a 2: el umbral es 1 por panoja. Revise pulgon amarillo cada semana y mande PULGON. (Lo calculé como ciclo mediano; mande CICLO para cambiarlo.)</a:t>
            </a:r>
          </a:p>
        </p:txBody>
      </p:sp>
      <p:sp>
        <p:nvSpPr>
          <p:cNvPr id="13" name="TextBox 12"/>
          <p:cNvSpPr txBox="1"/>
          <p:nvPr/>
        </p:nvSpPr>
        <p:spPr>
          <a:xfrm>
            <a:off x="768096" y="5309920"/>
            <a:ext cx="4846685" cy="633984"/>
          </a:xfrm>
          <a:prstGeom prst="rect">
            <a:avLst/>
          </a:prstGeom>
          <a:noFill/>
        </p:spPr>
        <p:txBody>
          <a:bodyPr wrap="square" anchor="t" lIns="0" rIns="0" tIns="0" bIns="0">
            <a:spAutoFit/>
          </a:bodyPr>
          <a:lstStyle/>
          <a:p>
            <a:pPr algn="l">
              <a:lnSpc>
                <a:spcPct val="100000"/>
              </a:lnSpc>
              <a:spcAft>
                <a:spcPts val="0"/>
              </a:spcAft>
            </a:pPr>
            <a:r>
              <a:rPr sz="950" b="0" i="1">
                <a:solidFill>
                  <a:srgbClr val="5F6B64"/>
                </a:solidFill>
                <a:latin typeface="Calibri"/>
              </a:rPr>
              <a:t>Sorgo Elsa: at flowering, day 69 after planting. Next: soft dough around Sat May 31. This stretch sets the yield. Check for midge every 3 days, 10 to 2: the threshold is 1 per head. Scout for sugarcane aphid weekly and text APHID. (Worked out as medium season; text MATURITY to change it.)</a:t>
            </a:r>
          </a:p>
        </p:txBody>
      </p:sp>
      <p:sp>
        <p:nvSpPr>
          <p:cNvPr id="14" name="Rounded Rectangle 13"/>
          <p:cNvSpPr/>
          <p:nvPr/>
        </p:nvSpPr>
        <p:spPr>
          <a:xfrm>
            <a:off x="7086600" y="1600200"/>
            <a:ext cx="4556455" cy="2514600"/>
          </a:xfrm>
          <a:prstGeom prst="roundRect">
            <a:avLst>
              <a:gd name="adj" fmla="val 4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287768" y="1746504"/>
            <a:ext cx="310896" cy="310896"/>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1709928"/>
            <a:ext cx="3696919" cy="411480"/>
          </a:xfrm>
          <a:prstGeom prst="rect">
            <a:avLst/>
          </a:prstGeom>
          <a:noFill/>
        </p:spPr>
        <p:txBody>
          <a:bodyPr wrap="square" anchor="ctr" lIns="0" rIns="0" tIns="0" bIns="0">
            <a:spAutoFit/>
          </a:bodyPr>
          <a:lstStyle/>
          <a:p>
            <a:pPr algn="l">
              <a:lnSpc>
                <a:spcPct val="105000"/>
              </a:lnSpc>
              <a:spcAft>
                <a:spcPts val="0"/>
              </a:spcAft>
            </a:pPr>
            <a:r>
              <a:rPr sz="1300" b="1" i="0">
                <a:solidFill>
                  <a:srgbClr val="1E2B24"/>
                </a:solidFill>
                <a:latin typeface="Calibri"/>
              </a:rPr>
              <a:t>Dos Ojos</a:t>
            </a:r>
            <a:r>
              <a:rPr sz="1100" b="0" i="0">
                <a:solidFill>
                  <a:srgbClr val="5F6B64"/>
                </a:solidFill>
                <a:latin typeface="Calibri"/>
              </a:rPr>
              <a:t>   text messages with Pedro (made up), irrigated</a:t>
            </a:r>
          </a:p>
        </p:txBody>
      </p:sp>
      <p:sp>
        <p:nvSpPr>
          <p:cNvPr id="17" name="Rounded Rectangle 16"/>
          <p:cNvSpPr/>
          <p:nvPr/>
        </p:nvSpPr>
        <p:spPr>
          <a:xfrm>
            <a:off x="10090289" y="2223820"/>
            <a:ext cx="1351597" cy="345567"/>
          </a:xfrm>
          <a:prstGeom prst="roundRect">
            <a:avLst>
              <a:gd name="adj" fmla="val 50000"/>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050" b="0" i="0">
                <a:solidFill>
                  <a:srgbClr val="FFFFFF"/>
                </a:solidFill>
                <a:latin typeface="Calibri"/>
              </a:rPr>
              <a:t>PULGON 21 de 80</a:t>
            </a:r>
          </a:p>
        </p:txBody>
      </p:sp>
      <p:sp>
        <p:nvSpPr>
          <p:cNvPr id="18" name="TextBox 17"/>
          <p:cNvSpPr txBox="1"/>
          <p:nvPr/>
        </p:nvSpPr>
        <p:spPr>
          <a:xfrm>
            <a:off x="7952427" y="2596819"/>
            <a:ext cx="3489460" cy="176784"/>
          </a:xfrm>
          <a:prstGeom prst="rect">
            <a:avLst/>
          </a:prstGeom>
          <a:noFill/>
        </p:spPr>
        <p:txBody>
          <a:bodyPr wrap="square" anchor="t" lIns="0" rIns="0" tIns="0" bIns="0">
            <a:spAutoFit/>
          </a:bodyPr>
          <a:lstStyle/>
          <a:p>
            <a:pPr algn="r">
              <a:lnSpc>
                <a:spcPct val="100000"/>
              </a:lnSpc>
              <a:spcAft>
                <a:spcPts val="0"/>
              </a:spcAft>
            </a:pPr>
            <a:r>
              <a:rPr sz="800" b="0" i="1">
                <a:solidFill>
                  <a:srgbClr val="5F6B64"/>
                </a:solidFill>
                <a:latin typeface="Calibri"/>
              </a:rPr>
              <a:t>APHID 21 of 80</a:t>
            </a:r>
          </a:p>
        </p:txBody>
      </p:sp>
      <p:sp>
        <p:nvSpPr>
          <p:cNvPr id="19" name="Rounded Rectangle 18"/>
          <p:cNvSpPr/>
          <p:nvPr/>
        </p:nvSpPr>
        <p:spPr>
          <a:xfrm>
            <a:off x="7287768" y="2892475"/>
            <a:ext cx="3489460" cy="670940"/>
          </a:xfrm>
          <a:prstGeom prst="roundRect">
            <a:avLst>
              <a:gd name="adj" fmla="val 261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050" b="0" i="0">
                <a:solidFill>
                  <a:srgbClr val="1E2B24"/>
                </a:solidFill>
                <a:latin typeface="Calibri"/>
              </a:rPr>
              <a:t>Sorgo Primera: 26% de plantas con pulgon, cerca del umbral de 30% en grano masoso. Revise otra vez en 3 o 4 dias.</a:t>
            </a:r>
          </a:p>
        </p:txBody>
      </p:sp>
      <p:sp>
        <p:nvSpPr>
          <p:cNvPr id="20" name="TextBox 19"/>
          <p:cNvSpPr txBox="1"/>
          <p:nvPr/>
        </p:nvSpPr>
        <p:spPr>
          <a:xfrm>
            <a:off x="7306055" y="3590848"/>
            <a:ext cx="3489460" cy="298704"/>
          </a:xfrm>
          <a:prstGeom prst="rect">
            <a:avLst/>
          </a:prstGeom>
          <a:noFill/>
        </p:spPr>
        <p:txBody>
          <a:bodyPr wrap="square" anchor="t" lIns="0" rIns="0" tIns="0" bIns="0">
            <a:spAutoFit/>
          </a:bodyPr>
          <a:lstStyle/>
          <a:p>
            <a:pPr algn="l">
              <a:lnSpc>
                <a:spcPct val="100000"/>
              </a:lnSpc>
              <a:spcAft>
                <a:spcPts val="0"/>
              </a:spcAft>
            </a:pPr>
            <a:r>
              <a:rPr sz="800" b="0" i="1">
                <a:solidFill>
                  <a:srgbClr val="5F6B64"/>
                </a:solidFill>
                <a:latin typeface="Calibri"/>
              </a:rPr>
              <a:t>Sorgo Primera: 26% of plants with aphids, close to the 30% threshold at soft dough. Check again in 3 or 4 days.</a:t>
            </a:r>
          </a:p>
        </p:txBody>
      </p:sp>
      <p:sp>
        <p:nvSpPr>
          <p:cNvPr id="21" name="Oval 20"/>
          <p:cNvSpPr/>
          <p:nvPr/>
        </p:nvSpPr>
        <p:spPr>
          <a:xfrm>
            <a:off x="7086600" y="4443983"/>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4389120"/>
            <a:ext cx="4144975"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The right threshold for the stage</a:t>
            </a:r>
          </a:p>
          <a:p>
            <a:pPr algn="l">
              <a:lnSpc>
                <a:spcPct val="108000"/>
              </a:lnSpc>
              <a:spcAft>
                <a:spcPts val="0"/>
              </a:spcAft>
            </a:pPr>
            <a:r>
              <a:rPr sz="1350" b="0" i="0">
                <a:solidFill>
                  <a:srgbClr val="5F6B64"/>
                </a:solidFill>
                <a:latin typeface="Calibri"/>
              </a:rPr>
              <a:t>20% of plants before heading, 30% after. Past it: talk to your advisor today. No product is ever named.</a:t>
            </a:r>
          </a:p>
        </p:txBody>
      </p:sp>
      <p:sp>
        <p:nvSpPr>
          <p:cNvPr id="23" name="Oval 22"/>
          <p:cNvSpPr/>
          <p:nvPr/>
        </p:nvSpPr>
        <p:spPr>
          <a:xfrm>
            <a:off x="7086600" y="5541264"/>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79" y="5486400"/>
            <a:ext cx="4144975"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No drone needed</a:t>
            </a:r>
          </a:p>
          <a:p>
            <a:pPr algn="l">
              <a:lnSpc>
                <a:spcPct val="108000"/>
              </a:lnSpc>
              <a:spcAft>
                <a:spcPts val="0"/>
              </a:spcAft>
            </a:pPr>
            <a:r>
              <a:rPr sz="1350" b="0" i="0">
                <a:solidFill>
                  <a:srgbClr val="5F6B64"/>
                </a:solidFill>
                <a:latin typeface="Calibri"/>
              </a:rPr>
              <a:t>Both use the satellite only.</a:t>
            </a:r>
          </a:p>
        </p:txBody>
      </p:sp>
      <p:sp>
        <p:nvSpPr>
          <p:cNvPr id="25" name="Oval 24"/>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277295"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12</a:t>
            </a:r>
          </a:p>
        </p:txBody>
      </p:sp>
      <p:sp>
        <p:nvSpPr>
          <p:cNvPr id="3" name="Rounded Rectangle 2"/>
          <p:cNvSpPr/>
          <p:nvPr/>
        </p:nvSpPr>
        <p:spPr>
          <a:xfrm>
            <a:off x="548640" y="109728"/>
            <a:ext cx="1325880" cy="329184"/>
          </a:xfrm>
          <a:prstGeom prst="roundRect">
            <a:avLst>
              <a:gd name="adj" fmla="val 50000"/>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Calibri"/>
              </a:rPr>
              <a:t>DEMO  5 / 5</a:t>
            </a:r>
          </a:p>
        </p:txBody>
      </p:sp>
      <p:sp>
        <p:nvSpPr>
          <p:cNvPr id="4" name="TextBox 3"/>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Drone photos go in through a link</a:t>
            </a:r>
          </a:p>
        </p:txBody>
      </p:sp>
      <p:sp>
        <p:nvSpPr>
          <p:cNvPr id="5" name="Rounded Rectangle 4"/>
          <p:cNvSpPr/>
          <p:nvPr/>
        </p:nvSpPr>
        <p:spPr>
          <a:xfrm>
            <a:off x="548640" y="1600200"/>
            <a:ext cx="5989320" cy="4754880"/>
          </a:xfrm>
          <a:prstGeom prst="roundRect">
            <a:avLst>
              <a:gd name="adj" fmla="val 4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746504"/>
            <a:ext cx="310896" cy="310896"/>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1709928"/>
            <a:ext cx="5129783" cy="411480"/>
          </a:xfrm>
          <a:prstGeom prst="rect">
            <a:avLst/>
          </a:prstGeom>
          <a:noFill/>
        </p:spPr>
        <p:txBody>
          <a:bodyPr wrap="square" anchor="ctr" lIns="0" rIns="0" tIns="0" bIns="0">
            <a:spAutoFit/>
          </a:bodyPr>
          <a:lstStyle/>
          <a:p>
            <a:pPr algn="l">
              <a:lnSpc>
                <a:spcPct val="105000"/>
              </a:lnSpc>
              <a:spcAft>
                <a:spcPts val="0"/>
              </a:spcAft>
            </a:pPr>
            <a:r>
              <a:rPr sz="1300" b="1" i="0">
                <a:solidFill>
                  <a:srgbClr val="1E2B24"/>
                </a:solidFill>
                <a:latin typeface="Calibri"/>
              </a:rPr>
              <a:t>Dos Ojos</a:t>
            </a:r>
            <a:r>
              <a:rPr sz="1100" b="0" i="0">
                <a:solidFill>
                  <a:srgbClr val="5F6B64"/>
                </a:solidFill>
                <a:latin typeface="Calibri"/>
              </a:rPr>
              <a:t>   text messages with Mary (made up, in English)</a:t>
            </a:r>
          </a:p>
        </p:txBody>
      </p:sp>
      <p:sp>
        <p:nvSpPr>
          <p:cNvPr id="8" name="Rounded Rectangle 7"/>
          <p:cNvSpPr/>
          <p:nvPr/>
        </p:nvSpPr>
        <p:spPr>
          <a:xfrm>
            <a:off x="5396992" y="2223820"/>
            <a:ext cx="939800" cy="384302"/>
          </a:xfrm>
          <a:prstGeom prst="roundRect">
            <a:avLst>
              <a:gd name="adj" fmla="val 45684"/>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300" b="0" i="0">
                <a:solidFill>
                  <a:srgbClr val="FFFFFF"/>
                </a:solidFill>
                <a:latin typeface="Calibri"/>
              </a:rPr>
              <a:t>DRONE</a:t>
            </a:r>
          </a:p>
        </p:txBody>
      </p:sp>
      <p:sp>
        <p:nvSpPr>
          <p:cNvPr id="9" name="Rounded Rectangle 8"/>
          <p:cNvSpPr/>
          <p:nvPr/>
        </p:nvSpPr>
        <p:spPr>
          <a:xfrm>
            <a:off x="749808" y="2754426"/>
            <a:ext cx="4693066" cy="585724"/>
          </a:xfrm>
          <a:prstGeom prst="roundRect">
            <a:avLst>
              <a:gd name="adj" fmla="val 2997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300" b="0" i="0">
                <a:solidFill>
                  <a:srgbClr val="1E2B24"/>
                </a:solidFill>
                <a:latin typeface="Calibri"/>
              </a:rPr>
              <a:t>When you flew, was Monte Alto Grove bare, with no crop? YES or NO</a:t>
            </a:r>
          </a:p>
        </p:txBody>
      </p:sp>
      <p:sp>
        <p:nvSpPr>
          <p:cNvPr id="10" name="Rounded Rectangle 9"/>
          <p:cNvSpPr/>
          <p:nvPr/>
        </p:nvSpPr>
        <p:spPr>
          <a:xfrm>
            <a:off x="5513831" y="3486454"/>
            <a:ext cx="822960" cy="384302"/>
          </a:xfrm>
          <a:prstGeom prst="roundRect">
            <a:avLst>
              <a:gd name="adj" fmla="val 45684"/>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300" b="0" i="0">
                <a:solidFill>
                  <a:srgbClr val="FFFFFF"/>
                </a:solidFill>
                <a:latin typeface="Calibri"/>
              </a:rPr>
              <a:t>NO</a:t>
            </a:r>
          </a:p>
        </p:txBody>
      </p:sp>
      <p:sp>
        <p:nvSpPr>
          <p:cNvPr id="11" name="Rounded Rectangle 10"/>
          <p:cNvSpPr/>
          <p:nvPr/>
        </p:nvSpPr>
        <p:spPr>
          <a:xfrm>
            <a:off x="749808" y="4017060"/>
            <a:ext cx="4693066" cy="585724"/>
          </a:xfrm>
          <a:prstGeom prst="roundRect">
            <a:avLst>
              <a:gd name="adj" fmla="val 2997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300" b="0" i="0">
                <a:solidFill>
                  <a:srgbClr val="1E2B24"/>
                </a:solidFill>
                <a:latin typeface="Calibri"/>
              </a:rPr>
              <a:t>Which day did you fly the drone over Monte Alto Grove? (e.g. today, 9/12)</a:t>
            </a:r>
          </a:p>
        </p:txBody>
      </p:sp>
      <p:sp>
        <p:nvSpPr>
          <p:cNvPr id="12" name="Rounded Rectangle 11"/>
          <p:cNvSpPr/>
          <p:nvPr/>
        </p:nvSpPr>
        <p:spPr>
          <a:xfrm>
            <a:off x="5396992" y="4749088"/>
            <a:ext cx="939800" cy="384302"/>
          </a:xfrm>
          <a:prstGeom prst="roundRect">
            <a:avLst>
              <a:gd name="adj" fmla="val 45684"/>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300" b="0" i="0">
                <a:solidFill>
                  <a:srgbClr val="FFFFFF"/>
                </a:solidFill>
                <a:latin typeface="Calibri"/>
              </a:rPr>
              <a:t>today</a:t>
            </a:r>
          </a:p>
        </p:txBody>
      </p:sp>
      <p:sp>
        <p:nvSpPr>
          <p:cNvPr id="13" name="Rounded Rectangle 12"/>
          <p:cNvSpPr/>
          <p:nvPr/>
        </p:nvSpPr>
        <p:spPr>
          <a:xfrm>
            <a:off x="749808" y="5279694"/>
            <a:ext cx="4693066" cy="787146"/>
          </a:xfrm>
          <a:prstGeom prst="roundRect">
            <a:avLst>
              <a:gd name="adj" fmla="val 223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300" b="0" i="0">
                <a:solidFill>
                  <a:srgbClr val="1E2B24"/>
                </a:solidFill>
                <a:latin typeface="Calibri"/>
              </a:rPr>
              <a:t>Upload the flight photos here, best on WiFi: http://localhost:8093/u/VWEAyUg7qApUzQee . You can upload in parts; the link lasts 14 days.</a:t>
            </a:r>
          </a:p>
        </p:txBody>
      </p:sp>
      <p:pic>
        <p:nvPicPr>
          <p:cNvPr id="14" name="Picture 13" descr="upload_page.png"/>
          <p:cNvPicPr>
            <a:picLocks noChangeAspect="1"/>
          </p:cNvPicPr>
          <p:nvPr/>
        </p:nvPicPr>
        <p:blipFill>
          <a:blip r:embed="rId2"/>
          <a:stretch>
            <a:fillRect/>
          </a:stretch>
        </p:blipFill>
        <p:spPr>
          <a:xfrm>
            <a:off x="6903720" y="1600200"/>
            <a:ext cx="4739335" cy="2623560"/>
          </a:xfrm>
          <a:prstGeom prst="rect">
            <a:avLst/>
          </a:prstGeom>
          <a:ln w="9525">
            <a:solidFill>
              <a:srgbClr val="D5DCD6"/>
            </a:solidFill>
          </a:ln>
        </p:spPr>
      </p:pic>
      <p:sp>
        <p:nvSpPr>
          <p:cNvPr id="15" name="TextBox 14"/>
          <p:cNvSpPr txBox="1"/>
          <p:nvPr/>
        </p:nvSpPr>
        <p:spPr>
          <a:xfrm>
            <a:off x="6903720" y="4296912"/>
            <a:ext cx="4739335" cy="457200"/>
          </a:xfrm>
          <a:prstGeom prst="rect">
            <a:avLst/>
          </a:prstGeom>
          <a:noFill/>
        </p:spPr>
        <p:txBody>
          <a:bodyPr wrap="square" anchor="t" lIns="0" rIns="0" tIns="0" bIns="0">
            <a:spAutoFit/>
          </a:bodyPr>
          <a:lstStyle/>
          <a:p>
            <a:pPr algn="l">
              <a:lnSpc>
                <a:spcPct val="100000"/>
              </a:lnSpc>
              <a:spcAft>
                <a:spcPts val="0"/>
              </a:spcAft>
            </a:pPr>
            <a:r>
              <a:rPr sz="1050" b="0" i="0">
                <a:solidFill>
                  <a:srgbClr val="5F6B64"/>
                </a:solidFill>
                <a:latin typeface="Calibri"/>
              </a:rPr>
              <a:t>The upload page Mary's link opens.</a:t>
            </a:r>
          </a:p>
        </p:txBody>
      </p:sp>
      <p:sp>
        <p:nvSpPr>
          <p:cNvPr id="16" name="TextBox 15"/>
          <p:cNvSpPr txBox="1"/>
          <p:nvPr/>
        </p:nvSpPr>
        <p:spPr>
          <a:xfrm>
            <a:off x="6903720" y="4617720"/>
            <a:ext cx="4739335" cy="1737360"/>
          </a:xfrm>
          <a:prstGeom prst="rect">
            <a:avLst/>
          </a:prstGeom>
          <a:noFill/>
        </p:spPr>
        <p:txBody>
          <a:bodyPr wrap="square" anchor="t" lIns="0" rIns="0" tIns="0" bIns="0">
            <a:spAutoFit/>
          </a:bodyPr>
          <a:lstStyle/>
          <a:p>
            <a:pPr algn="l">
              <a:lnSpc>
                <a:spcPct val="105000"/>
              </a:lnSpc>
              <a:spcAft>
                <a:spcPts val="600"/>
              </a:spcAft>
            </a:pPr>
            <a:r>
              <a:rPr sz="1900" b="1" i="0">
                <a:solidFill>
                  <a:srgbClr val="1E2B24"/>
                </a:solidFill>
                <a:latin typeface="Century Schoolbook"/>
              </a:rPr>
              <a:t>However the photos were taken</a:t>
            </a:r>
          </a:p>
          <a:p>
            <a:pPr algn="l">
              <a:lnSpc>
                <a:spcPct val="110000"/>
              </a:lnSpc>
              <a:spcAft>
                <a:spcPts val="0"/>
              </a:spcAft>
            </a:pPr>
            <a:r>
              <a:rPr sz="1500" b="0" i="0">
                <a:solidFill>
                  <a:srgbClr val="5F6B64"/>
                </a:solidFill>
                <a:latin typeface="Calibri"/>
              </a:rPr>
              <a:t>Flown by hand, by a drone that flies itself, or by a licensed pilot the farmer hires, the photos arrive the same way. Best on WiFi, and it picks up where it stopped.</a:t>
            </a:r>
          </a:p>
        </p:txBody>
      </p:sp>
      <p:sp>
        <p:nvSpPr>
          <p:cNvPr id="17" name="Oval 16"/>
          <p:cNvSpPr/>
          <p:nvPr/>
        </p:nvSpPr>
        <p:spPr>
          <a:xfrm>
            <a:off x="10801807"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13</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Built for the Valley's sorghum</a:t>
            </a:r>
          </a:p>
        </p:txBody>
      </p:sp>
      <p:sp>
        <p:nvSpPr>
          <p:cNvPr id="4" name="TextBox 3"/>
          <p:cNvSpPr txBox="1"/>
          <p:nvPr/>
        </p:nvSpPr>
        <p:spPr>
          <a:xfrm>
            <a:off x="548640" y="1078992"/>
            <a:ext cx="9144000" cy="411480"/>
          </a:xfrm>
          <a:prstGeom prst="rect">
            <a:avLst/>
          </a:prstGeom>
          <a:noFill/>
        </p:spPr>
        <p:txBody>
          <a:bodyPr wrap="square" anchor="t" lIns="0" rIns="0" tIns="0" bIns="0">
            <a:spAutoFit/>
          </a:bodyPr>
          <a:lstStyle/>
          <a:p>
            <a:pPr algn="l">
              <a:lnSpc>
                <a:spcPct val="105000"/>
              </a:lnSpc>
              <a:spcAft>
                <a:spcPts val="0"/>
              </a:spcAft>
            </a:pPr>
            <a:r>
              <a:rPr sz="1600" b="0" i="0">
                <a:solidFill>
                  <a:srgbClr val="5F6B64"/>
                </a:solidFill>
                <a:latin typeface="Calibri"/>
              </a:rPr>
              <a:t>About 410 grain sorghum fields in one search box on the 2025 USDA crop map</a:t>
            </a:r>
          </a:p>
        </p:txBody>
      </p:sp>
      <p:pic>
        <p:nvPicPr>
          <p:cNvPr id="5" name="Picture 4" descr="stage_chart_elsa_en.png"/>
          <p:cNvPicPr>
            <a:picLocks noChangeAspect="1"/>
          </p:cNvPicPr>
          <p:nvPr/>
        </p:nvPicPr>
        <p:blipFill>
          <a:blip r:embed="rId2"/>
          <a:stretch>
            <a:fillRect/>
          </a:stretch>
        </p:blipFill>
        <p:spPr>
          <a:xfrm>
            <a:off x="1446048" y="1600200"/>
            <a:ext cx="9299598" cy="3611880"/>
          </a:xfrm>
          <a:prstGeom prst="rect">
            <a:avLst/>
          </a:prstGeom>
          <a:ln w="9525">
            <a:solidFill>
              <a:srgbClr val="D5DCD6"/>
            </a:solidFill>
          </a:ln>
        </p:spPr>
      </p:pic>
      <p:sp>
        <p:nvSpPr>
          <p:cNvPr id="6" name="TextBox 5"/>
          <p:cNvSpPr txBox="1"/>
          <p:nvPr/>
        </p:nvSpPr>
        <p:spPr>
          <a:xfrm>
            <a:off x="1446048" y="5266944"/>
            <a:ext cx="9299598" cy="320040"/>
          </a:xfrm>
          <a:prstGeom prst="rect">
            <a:avLst/>
          </a:prstGeom>
          <a:noFill/>
        </p:spPr>
        <p:txBody>
          <a:bodyPr wrap="square" anchor="t" lIns="0" rIns="0" tIns="0" bIns="0">
            <a:spAutoFit/>
          </a:bodyPr>
          <a:lstStyle/>
          <a:p>
            <a:pPr algn="l">
              <a:lnSpc>
                <a:spcPct val="100000"/>
              </a:lnSpc>
              <a:spcAft>
                <a:spcPts val="0"/>
              </a:spcAft>
            </a:pPr>
            <a:r>
              <a:rPr sz="1100" b="0" i="0">
                <a:solidFill>
                  <a:srgbClr val="5F6B64"/>
                </a:solidFill>
                <a:latin typeface="Calibri"/>
              </a:rPr>
              <a:t>Maria's dryland field near Elsa, 20 May 2025. Heat: gridMET. Stages: Texas A&amp;M AgriLife B-6137.</a:t>
            </a:r>
          </a:p>
        </p:txBody>
      </p:sp>
      <p:sp>
        <p:nvSpPr>
          <p:cNvPr id="7" name="Oval 6"/>
          <p:cNvSpPr/>
          <p:nvPr/>
        </p:nvSpPr>
        <p:spPr>
          <a:xfrm>
            <a:off x="548640" y="5650992"/>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5596128"/>
            <a:ext cx="3073298" cy="1463040"/>
          </a:xfrm>
          <a:prstGeom prst="rect">
            <a:avLst/>
          </a:prstGeom>
          <a:noFill/>
        </p:spPr>
        <p:txBody>
          <a:bodyPr wrap="square" anchor="t" lIns="0" rIns="0" tIns="0" bIns="0">
            <a:spAutoFit/>
          </a:bodyPr>
          <a:lstStyle/>
          <a:p>
            <a:pPr algn="l">
              <a:lnSpc>
                <a:spcPct val="105000"/>
              </a:lnSpc>
              <a:spcAft>
                <a:spcPts val="300"/>
              </a:spcAft>
            </a:pPr>
            <a:r>
              <a:rPr sz="1550" b="1" i="0">
                <a:solidFill>
                  <a:srgbClr val="1E2B24"/>
                </a:solidFill>
                <a:latin typeface="Calibri"/>
              </a:rPr>
              <a:t>Stage from heat, not the calendar</a:t>
            </a:r>
          </a:p>
          <a:p>
            <a:pPr algn="l">
              <a:lnSpc>
                <a:spcPct val="108000"/>
              </a:lnSpc>
              <a:spcAft>
                <a:spcPts val="0"/>
              </a:spcAft>
            </a:pPr>
            <a:r>
              <a:rPr sz="1300" b="0" i="0">
                <a:solidFill>
                  <a:srgbClr val="5F6B64"/>
                </a:solidFill>
                <a:latin typeface="Calibri"/>
              </a:rPr>
              <a:t>Texas A&amp;M's own method: every day's heat, added up since planting.</a:t>
            </a:r>
          </a:p>
        </p:txBody>
      </p:sp>
      <p:sp>
        <p:nvSpPr>
          <p:cNvPr id="9" name="Oval 8"/>
          <p:cNvSpPr/>
          <p:nvPr/>
        </p:nvSpPr>
        <p:spPr>
          <a:xfrm>
            <a:off x="4353458" y="5650992"/>
            <a:ext cx="237744" cy="237744"/>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64938" y="5596128"/>
            <a:ext cx="3073298" cy="1463040"/>
          </a:xfrm>
          <a:prstGeom prst="rect">
            <a:avLst/>
          </a:prstGeom>
          <a:noFill/>
        </p:spPr>
        <p:txBody>
          <a:bodyPr wrap="square" anchor="t" lIns="0" rIns="0" tIns="0" bIns="0">
            <a:spAutoFit/>
          </a:bodyPr>
          <a:lstStyle/>
          <a:p>
            <a:pPr algn="l">
              <a:lnSpc>
                <a:spcPct val="105000"/>
              </a:lnSpc>
              <a:spcAft>
                <a:spcPts val="300"/>
              </a:spcAft>
            </a:pPr>
            <a:r>
              <a:rPr sz="1550" b="1" i="0">
                <a:solidFill>
                  <a:srgbClr val="1E2B24"/>
                </a:solidFill>
                <a:latin typeface="Calibri"/>
              </a:rPr>
              <a:t>Water when it decides the harvest</a:t>
            </a:r>
          </a:p>
          <a:p>
            <a:pPr algn="l">
              <a:lnSpc>
                <a:spcPct val="108000"/>
              </a:lnSpc>
              <a:spcAft>
                <a:spcPts val="0"/>
              </a:spcAft>
            </a:pPr>
            <a:r>
              <a:rPr sz="1300" b="0" i="0">
                <a:solidFill>
                  <a:srgbClr val="5F6B64"/>
                </a:solidFill>
                <a:latin typeface="Calibri"/>
              </a:rPr>
              <a:t>Panicle initiation to flowering sets 70% of the yield.</a:t>
            </a:r>
          </a:p>
        </p:txBody>
      </p:sp>
      <p:sp>
        <p:nvSpPr>
          <p:cNvPr id="11" name="Oval 10"/>
          <p:cNvSpPr/>
          <p:nvPr/>
        </p:nvSpPr>
        <p:spPr>
          <a:xfrm>
            <a:off x="8158276" y="5650992"/>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69756" y="5596128"/>
            <a:ext cx="3073298" cy="1463040"/>
          </a:xfrm>
          <a:prstGeom prst="rect">
            <a:avLst/>
          </a:prstGeom>
          <a:noFill/>
        </p:spPr>
        <p:txBody>
          <a:bodyPr wrap="square" anchor="t" lIns="0" rIns="0" tIns="0" bIns="0">
            <a:spAutoFit/>
          </a:bodyPr>
          <a:lstStyle/>
          <a:p>
            <a:pPr algn="l">
              <a:lnSpc>
                <a:spcPct val="105000"/>
              </a:lnSpc>
              <a:spcAft>
                <a:spcPts val="300"/>
              </a:spcAft>
            </a:pPr>
            <a:r>
              <a:rPr sz="1550" b="1" i="0">
                <a:solidFill>
                  <a:srgbClr val="1E2B24"/>
                </a:solidFill>
                <a:latin typeface="Calibri"/>
              </a:rPr>
              <a:t>Pests at the right time</a:t>
            </a:r>
          </a:p>
          <a:p>
            <a:pPr algn="l">
              <a:lnSpc>
                <a:spcPct val="108000"/>
              </a:lnSpc>
              <a:spcAft>
                <a:spcPts val="0"/>
              </a:spcAft>
            </a:pPr>
            <a:r>
              <a:rPr sz="1300" b="0" i="0">
                <a:solidFill>
                  <a:srgbClr val="5F6B64"/>
                </a:solidFill>
                <a:latin typeface="Calibri"/>
              </a:rPr>
              <a:t>Weekly aphid reminders; midge while it flowers.</a:t>
            </a:r>
          </a:p>
        </p:txBody>
      </p:sp>
      <p:sp>
        <p:nvSpPr>
          <p:cNvPr id="13" name="Oval 12"/>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77295"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14</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What a drone flight adds</a:t>
            </a:r>
          </a:p>
        </p:txBody>
      </p:sp>
      <p:pic>
        <p:nvPicPr>
          <p:cNvPr id="4" name="Picture 3" descr="sorghum_flags.png"/>
          <p:cNvPicPr>
            <a:picLocks noChangeAspect="1"/>
          </p:cNvPicPr>
          <p:nvPr/>
        </p:nvPicPr>
        <p:blipFill>
          <a:blip r:embed="rId2"/>
          <a:stretch>
            <a:fillRect/>
          </a:stretch>
        </p:blipFill>
        <p:spPr>
          <a:xfrm>
            <a:off x="1077745" y="1600200"/>
            <a:ext cx="4260397" cy="4160520"/>
          </a:xfrm>
          <a:prstGeom prst="rect">
            <a:avLst/>
          </a:prstGeom>
          <a:ln w="9525">
            <a:solidFill>
              <a:srgbClr val="D5DCD6"/>
            </a:solidFill>
          </a:ln>
        </p:spPr>
      </p:pic>
      <p:sp>
        <p:nvSpPr>
          <p:cNvPr id="5" name="TextBox 4"/>
          <p:cNvSpPr txBox="1"/>
          <p:nvPr/>
        </p:nvSpPr>
        <p:spPr>
          <a:xfrm>
            <a:off x="548640" y="5870448"/>
            <a:ext cx="5318607" cy="685800"/>
          </a:xfrm>
          <a:prstGeom prst="rect">
            <a:avLst/>
          </a:prstGeom>
          <a:noFill/>
        </p:spPr>
        <p:txBody>
          <a:bodyPr wrap="square" anchor="t" lIns="0" rIns="0" tIns="0" bIns="0">
            <a:spAutoFit/>
          </a:bodyPr>
          <a:lstStyle/>
          <a:p>
            <a:pPr algn="l">
              <a:lnSpc>
                <a:spcPct val="105000"/>
              </a:lnSpc>
              <a:spcAft>
                <a:spcPts val="200"/>
              </a:spcAft>
            </a:pPr>
            <a:r>
              <a:rPr sz="1700" b="1" i="0">
                <a:solidFill>
                  <a:srgbClr val="1E2B24"/>
                </a:solidFill>
                <a:latin typeface="Calibri"/>
              </a:rPr>
              <a:t>Plant by plant</a:t>
            </a:r>
          </a:p>
          <a:p>
            <a:pPr algn="l">
              <a:lnSpc>
                <a:spcPct val="105000"/>
              </a:lnSpc>
              <a:spcAft>
                <a:spcPts val="0"/>
              </a:spcAft>
            </a:pPr>
            <a:r>
              <a:rPr sz="1200" b="0" i="0">
                <a:solidFill>
                  <a:srgbClr val="5F6B64"/>
                </a:solidFill>
                <a:latin typeface="Calibri"/>
              </a:rPr>
              <a:t>394 of 3,971 stretches of row worth a look. Sorghum trial, Purdue University.</a:t>
            </a:r>
          </a:p>
        </p:txBody>
      </p:sp>
      <p:pic>
        <p:nvPicPr>
          <p:cNvPr id="6" name="Picture 5" descr="terrain_corn.png"/>
          <p:cNvPicPr>
            <a:picLocks noChangeAspect="1"/>
          </p:cNvPicPr>
          <p:nvPr/>
        </p:nvPicPr>
        <p:blipFill>
          <a:blip r:embed="rId3"/>
          <a:stretch>
            <a:fillRect/>
          </a:stretch>
        </p:blipFill>
        <p:spPr>
          <a:xfrm>
            <a:off x="7129418" y="1600200"/>
            <a:ext cx="3708665" cy="4160520"/>
          </a:xfrm>
          <a:prstGeom prst="rect">
            <a:avLst/>
          </a:prstGeom>
          <a:ln w="9525">
            <a:solidFill>
              <a:srgbClr val="D5DCD6"/>
            </a:solidFill>
          </a:ln>
        </p:spPr>
      </p:pic>
      <p:sp>
        <p:nvSpPr>
          <p:cNvPr id="7" name="TextBox 6"/>
          <p:cNvSpPr txBox="1"/>
          <p:nvPr/>
        </p:nvSpPr>
        <p:spPr>
          <a:xfrm>
            <a:off x="6324447" y="5870448"/>
            <a:ext cx="5318607" cy="685800"/>
          </a:xfrm>
          <a:prstGeom prst="rect">
            <a:avLst/>
          </a:prstGeom>
          <a:noFill/>
        </p:spPr>
        <p:txBody>
          <a:bodyPr wrap="square" anchor="t" lIns="0" rIns="0" tIns="0" bIns="0">
            <a:spAutoFit/>
          </a:bodyPr>
          <a:lstStyle/>
          <a:p>
            <a:pPr algn="l">
              <a:lnSpc>
                <a:spcPct val="105000"/>
              </a:lnSpc>
              <a:spcAft>
                <a:spcPts val="200"/>
              </a:spcAft>
            </a:pPr>
            <a:r>
              <a:rPr sz="1700" b="1" i="0">
                <a:solidFill>
                  <a:srgbClr val="1E2B24"/>
                </a:solidFill>
                <a:latin typeface="Calibri"/>
              </a:rPr>
              <a:t>The lie of the land</a:t>
            </a:r>
          </a:p>
          <a:p>
            <a:pPr algn="l">
              <a:lnSpc>
                <a:spcPct val="105000"/>
              </a:lnSpc>
              <a:spcAft>
                <a:spcPts val="0"/>
              </a:spcAft>
            </a:pPr>
            <a:r>
              <a:rPr sz="1200" b="0" i="0">
                <a:solidFill>
                  <a:srgbClr val="5F6B64"/>
                </a:solidFill>
                <a:latin typeface="Calibri"/>
              </a:rPr>
              <a:t>Low corners where water sits, high spots it never reaches. Government lidar.</a:t>
            </a:r>
          </a:p>
        </p:txBody>
      </p:sp>
      <p:sp>
        <p:nvSpPr>
          <p:cNvPr id="8" name="Oval 7"/>
          <p:cNvSpPr/>
          <p:nvPr/>
        </p:nvSpPr>
        <p:spPr>
          <a:xfrm>
            <a:off x="10801807"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15</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A thermal camera finds hot spots early</a:t>
            </a:r>
          </a:p>
        </p:txBody>
      </p:sp>
      <p:pic>
        <p:nvPicPr>
          <p:cNvPr id="4" name="Picture 3" descr="terraref_thermal.png"/>
          <p:cNvPicPr>
            <a:picLocks noChangeAspect="1"/>
          </p:cNvPicPr>
          <p:nvPr/>
        </p:nvPicPr>
        <p:blipFill>
          <a:blip r:embed="rId2"/>
          <a:stretch>
            <a:fillRect/>
          </a:stretch>
        </p:blipFill>
        <p:spPr>
          <a:xfrm>
            <a:off x="548640" y="1920240"/>
            <a:ext cx="5029200" cy="1355807"/>
          </a:xfrm>
          <a:prstGeom prst="rect">
            <a:avLst/>
          </a:prstGeom>
        </p:spPr>
      </p:pic>
      <p:sp>
        <p:nvSpPr>
          <p:cNvPr id="5" name="TextBox 4"/>
          <p:cNvSpPr txBox="1"/>
          <p:nvPr/>
        </p:nvSpPr>
        <p:spPr>
          <a:xfrm>
            <a:off x="548640" y="3349199"/>
            <a:ext cx="5029200" cy="457200"/>
          </a:xfrm>
          <a:prstGeom prst="rect">
            <a:avLst/>
          </a:prstGeom>
          <a:noFill/>
        </p:spPr>
        <p:txBody>
          <a:bodyPr wrap="square" anchor="t" lIns="0" rIns="0" tIns="0" bIns="0">
            <a:spAutoFit/>
          </a:bodyPr>
          <a:lstStyle/>
          <a:p>
            <a:pPr algn="l">
              <a:lnSpc>
                <a:spcPct val="100000"/>
              </a:lnSpc>
              <a:spcAft>
                <a:spcPts val="0"/>
              </a:spcAft>
            </a:pPr>
            <a:r>
              <a:rPr sz="1050" b="0" i="0">
                <a:solidFill>
                  <a:srgbClr val="5F6B64"/>
                </a:solidFill>
                <a:latin typeface="Calibri"/>
              </a:rPr>
              <a:t>Real sorghum under a real thermal camera: the plants (dark) run about 8 °C cooler than the soil. Public research data from Arizona, not our field.</a:t>
            </a:r>
          </a:p>
        </p:txBody>
      </p:sp>
      <p:sp>
        <p:nvSpPr>
          <p:cNvPr id="6" name="TextBox 5"/>
          <p:cNvSpPr txBox="1"/>
          <p:nvPr/>
        </p:nvSpPr>
        <p:spPr>
          <a:xfrm>
            <a:off x="548640" y="3842975"/>
            <a:ext cx="5029200" cy="1371600"/>
          </a:xfrm>
          <a:prstGeom prst="rect">
            <a:avLst/>
          </a:prstGeom>
          <a:noFill/>
        </p:spPr>
        <p:txBody>
          <a:bodyPr wrap="square" anchor="t" lIns="0" rIns="0" tIns="0" bIns="0">
            <a:spAutoFit/>
          </a:bodyPr>
          <a:lstStyle/>
          <a:p>
            <a:pPr algn="l">
              <a:lnSpc>
                <a:spcPct val="105000"/>
              </a:lnSpc>
              <a:spcAft>
                <a:spcPts val="300"/>
              </a:spcAft>
            </a:pPr>
            <a:r>
              <a:rPr sz="1700" b="1" i="0">
                <a:solidFill>
                  <a:srgbClr val="1E2B24"/>
                </a:solidFill>
                <a:latin typeface="Century Schoolbook"/>
              </a:rPr>
              <a:t>2,719 pictures in 84 minutes</a:t>
            </a:r>
          </a:p>
          <a:p>
            <a:pPr algn="l">
              <a:lnSpc>
                <a:spcPct val="110000"/>
              </a:lnSpc>
              <a:spcAft>
                <a:spcPts val="0"/>
              </a:spcAft>
            </a:pPr>
            <a:r>
              <a:rPr sz="1400" b="0" i="0">
                <a:solidFill>
                  <a:srgbClr val="5F6B64"/>
                </a:solidFill>
                <a:latin typeface="Calibri"/>
              </a:rPr>
              <a:t>Our software stitches them into one map of leaf temperature, taking out the sun climbing while the camera worked. It found three warm patches, the biggest 29 m2.</a:t>
            </a:r>
          </a:p>
        </p:txBody>
      </p:sp>
      <p:sp>
        <p:nvSpPr>
          <p:cNvPr id="7" name="TextBox 6"/>
          <p:cNvSpPr txBox="1"/>
          <p:nvPr/>
        </p:nvSpPr>
        <p:spPr>
          <a:xfrm>
            <a:off x="6080759" y="1600200"/>
            <a:ext cx="5562295" cy="1188720"/>
          </a:xfrm>
          <a:prstGeom prst="rect">
            <a:avLst/>
          </a:prstGeom>
          <a:noFill/>
        </p:spPr>
        <p:txBody>
          <a:bodyPr wrap="square" anchor="t" lIns="0" rIns="0" tIns="0" bIns="0">
            <a:spAutoFit/>
          </a:bodyPr>
          <a:lstStyle/>
          <a:p>
            <a:pPr algn="l">
              <a:lnSpc>
                <a:spcPct val="105000"/>
              </a:lnSpc>
              <a:spcAft>
                <a:spcPts val="400"/>
              </a:spcAft>
            </a:pPr>
            <a:r>
              <a:rPr sz="1900" b="1" i="0">
                <a:solidFill>
                  <a:srgbClr val="1E2B24"/>
                </a:solidFill>
                <a:latin typeface="Century Schoolbook"/>
              </a:rPr>
              <a:t>Healthy plants sweat to stay cool.</a:t>
            </a:r>
          </a:p>
          <a:p>
            <a:pPr algn="l">
              <a:lnSpc>
                <a:spcPct val="110000"/>
              </a:lnSpc>
              <a:spcAft>
                <a:spcPts val="0"/>
              </a:spcAft>
            </a:pPr>
            <a:r>
              <a:rPr sz="1500" b="0" i="0">
                <a:solidFill>
                  <a:srgbClr val="5F6B64"/>
                </a:solidFill>
                <a:latin typeface="Calibri"/>
              </a:rPr>
              <a:t>A patch running hotter than the rest of the field is a warning, often before anything shows to the eye.</a:t>
            </a:r>
          </a:p>
        </p:txBody>
      </p:sp>
      <p:sp>
        <p:nvSpPr>
          <p:cNvPr id="8" name="Rounded Rectangle 7"/>
          <p:cNvSpPr/>
          <p:nvPr/>
        </p:nvSpPr>
        <p:spPr>
          <a:xfrm>
            <a:off x="6080759" y="2926080"/>
            <a:ext cx="5562295" cy="2057400"/>
          </a:xfrm>
          <a:prstGeom prst="roundRect">
            <a:avLst>
              <a:gd name="adj" fmla="val 4000"/>
            </a:avLst>
          </a:prstGeom>
          <a:solidFill>
            <a:srgbClr val="E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81927" y="3072384"/>
            <a:ext cx="310896" cy="310896"/>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2551" y="3035808"/>
            <a:ext cx="4702759" cy="411480"/>
          </a:xfrm>
          <a:prstGeom prst="rect">
            <a:avLst/>
          </a:prstGeom>
          <a:noFill/>
        </p:spPr>
        <p:txBody>
          <a:bodyPr wrap="square" anchor="ctr" lIns="0" rIns="0" tIns="0" bIns="0">
            <a:spAutoFit/>
          </a:bodyPr>
          <a:lstStyle/>
          <a:p>
            <a:pPr algn="l">
              <a:lnSpc>
                <a:spcPct val="105000"/>
              </a:lnSpc>
              <a:spcAft>
                <a:spcPts val="0"/>
              </a:spcAft>
            </a:pPr>
            <a:r>
              <a:rPr sz="1300" b="1" i="0">
                <a:solidFill>
                  <a:srgbClr val="1E2B24"/>
                </a:solidFill>
                <a:latin typeface="Calibri"/>
              </a:rPr>
              <a:t>Dos Ojos</a:t>
            </a:r>
            <a:r>
              <a:rPr sz="1100" b="0" i="0">
                <a:solidFill>
                  <a:srgbClr val="5F6B64"/>
                </a:solidFill>
                <a:latin typeface="Calibri"/>
              </a:rPr>
              <a:t>   text messages with Ana (made up)</a:t>
            </a:r>
          </a:p>
        </p:txBody>
      </p:sp>
      <p:sp>
        <p:nvSpPr>
          <p:cNvPr id="11" name="Rounded Rectangle 10"/>
          <p:cNvSpPr/>
          <p:nvPr/>
        </p:nvSpPr>
        <p:spPr>
          <a:xfrm>
            <a:off x="6281927" y="3549700"/>
            <a:ext cx="4334365" cy="833628"/>
          </a:xfrm>
          <a:prstGeom prst="roundRect">
            <a:avLst>
              <a:gd name="adj" fmla="val 210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73152" bIns="73152"/>
          <a:lstStyle/>
          <a:p>
            <a:pPr algn="l">
              <a:lnSpc>
                <a:spcPct val="100000"/>
              </a:lnSpc>
            </a:pPr>
            <a:r>
              <a:rPr sz="1050" b="0" i="0">
                <a:solidFill>
                  <a:srgbClr val="1E2B24"/>
                </a:solidFill>
                <a:latin typeface="Calibri"/>
              </a:rPr>
              <a:t>Cámara térmica: 50% de probabilidad de plaga o enfermedad en la esquina suroeste de Scanner Field (29 m2). Vaya a verlo; la cámara no sabe qué es. Hay 2 manchas más; vienen en el archivo de PORQUE.</a:t>
            </a:r>
          </a:p>
        </p:txBody>
      </p:sp>
      <p:sp>
        <p:nvSpPr>
          <p:cNvPr id="12" name="TextBox 11"/>
          <p:cNvSpPr txBox="1"/>
          <p:nvPr/>
        </p:nvSpPr>
        <p:spPr>
          <a:xfrm>
            <a:off x="6300215" y="4410760"/>
            <a:ext cx="4334365" cy="420624"/>
          </a:xfrm>
          <a:prstGeom prst="rect">
            <a:avLst/>
          </a:prstGeom>
          <a:noFill/>
        </p:spPr>
        <p:txBody>
          <a:bodyPr wrap="square" anchor="t" lIns="0" rIns="0" tIns="0" bIns="0">
            <a:spAutoFit/>
          </a:bodyPr>
          <a:lstStyle/>
          <a:p>
            <a:pPr algn="l">
              <a:lnSpc>
                <a:spcPct val="100000"/>
              </a:lnSpc>
              <a:spcAft>
                <a:spcPts val="0"/>
              </a:spcAft>
            </a:pPr>
            <a:r>
              <a:rPr sz="800" b="0" i="1">
                <a:solidFill>
                  <a:srgbClr val="5F6B64"/>
                </a:solidFill>
                <a:latin typeface="Calibri"/>
              </a:rPr>
              <a:t>Thermal camera: 50% chance of a pest or disease in the south-west corner of Scanner Field (29 m2). Go and look; the camera can't name it. There are 2 more patches; they're in the WHY file.</a:t>
            </a:r>
          </a:p>
        </p:txBody>
      </p:sp>
      <p:sp>
        <p:nvSpPr>
          <p:cNvPr id="13" name="Oval 12"/>
          <p:cNvSpPr/>
          <p:nvPr/>
        </p:nvSpPr>
        <p:spPr>
          <a:xfrm>
            <a:off x="6080759" y="4992624"/>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937760"/>
            <a:ext cx="5150815"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Never "certain"</a:t>
            </a:r>
          </a:p>
          <a:p>
            <a:pPr algn="l">
              <a:lnSpc>
                <a:spcPct val="108000"/>
              </a:lnSpc>
              <a:spcAft>
                <a:spcPts val="0"/>
              </a:spcAft>
            </a:pPr>
            <a:r>
              <a:rPr sz="1400" b="0" i="0">
                <a:solidFill>
                  <a:srgbClr val="5F6B64"/>
                </a:solidFill>
                <a:latin typeface="Calibri"/>
              </a:rPr>
              <a:t>Each patch is scored using the ground, the water and what the normal camera sees. The score stays between 10% and 85%.</a:t>
            </a:r>
          </a:p>
        </p:txBody>
      </p:sp>
      <p:sp>
        <p:nvSpPr>
          <p:cNvPr id="15" name="Oval 14"/>
          <p:cNvSpPr/>
          <p:nvPr/>
        </p:nvSpPr>
        <p:spPr>
          <a:xfrm>
            <a:off x="10801807"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16</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One page, with one eye or two</a:t>
            </a:r>
          </a:p>
        </p:txBody>
      </p:sp>
      <p:sp>
        <p:nvSpPr>
          <p:cNvPr id="4" name="TextBox 3"/>
          <p:cNvSpPr txBox="1"/>
          <p:nvPr/>
        </p:nvSpPr>
        <p:spPr>
          <a:xfrm>
            <a:off x="548640" y="1600200"/>
            <a:ext cx="5440680" cy="411480"/>
          </a:xfrm>
          <a:prstGeom prst="rect">
            <a:avLst/>
          </a:prstGeom>
          <a:noFill/>
        </p:spPr>
        <p:txBody>
          <a:bodyPr wrap="square" anchor="t" lIns="0" rIns="0" tIns="0" bIns="0">
            <a:spAutoFit/>
          </a:bodyPr>
          <a:lstStyle/>
          <a:p>
            <a:pPr algn="l">
              <a:lnSpc>
                <a:spcPct val="105000"/>
              </a:lnSpc>
              <a:spcAft>
                <a:spcPts val="0"/>
              </a:spcAft>
            </a:pPr>
            <a:r>
              <a:rPr sz="1700" b="1" i="0">
                <a:solidFill>
                  <a:srgbClr val="1E2B24"/>
                </a:solidFill>
                <a:latin typeface="Calibri"/>
              </a:rPr>
              <a:t>Both eyes  </a:t>
            </a:r>
            <a:r>
              <a:rPr sz="1400" b="0" i="0">
                <a:solidFill>
                  <a:srgbClr val="5F6B64"/>
                </a:solidFill>
                <a:latin typeface="Calibri"/>
              </a:rPr>
              <a:t>satellite and drone, sorghum</a:t>
            </a:r>
          </a:p>
        </p:txBody>
      </p:sp>
      <p:pic>
        <p:nvPicPr>
          <p:cNvPr id="5" name="Picture 4" descr="sorghum_page.png"/>
          <p:cNvPicPr>
            <a:picLocks noChangeAspect="1"/>
          </p:cNvPicPr>
          <p:nvPr/>
        </p:nvPicPr>
        <p:blipFill>
          <a:blip r:embed="rId2"/>
          <a:stretch>
            <a:fillRect/>
          </a:stretch>
        </p:blipFill>
        <p:spPr>
          <a:xfrm>
            <a:off x="548640" y="2057400"/>
            <a:ext cx="4028172" cy="4251960"/>
          </a:xfrm>
          <a:prstGeom prst="rect">
            <a:avLst/>
          </a:prstGeom>
          <a:ln w="9525">
            <a:solidFill>
              <a:srgbClr val="D5DCD6"/>
            </a:solidFill>
          </a:ln>
        </p:spPr>
      </p:pic>
      <p:sp>
        <p:nvSpPr>
          <p:cNvPr id="6" name="TextBox 5"/>
          <p:cNvSpPr txBox="1"/>
          <p:nvPr/>
        </p:nvSpPr>
        <p:spPr>
          <a:xfrm>
            <a:off x="6492240" y="1600200"/>
            <a:ext cx="5150815" cy="411480"/>
          </a:xfrm>
          <a:prstGeom prst="rect">
            <a:avLst/>
          </a:prstGeom>
          <a:noFill/>
        </p:spPr>
        <p:txBody>
          <a:bodyPr wrap="square" anchor="t" lIns="0" rIns="0" tIns="0" bIns="0">
            <a:spAutoFit/>
          </a:bodyPr>
          <a:lstStyle/>
          <a:p>
            <a:pPr algn="l">
              <a:lnSpc>
                <a:spcPct val="105000"/>
              </a:lnSpc>
              <a:spcAft>
                <a:spcPts val="0"/>
              </a:spcAft>
            </a:pPr>
            <a:r>
              <a:rPr sz="1700" b="1" i="0">
                <a:solidFill>
                  <a:srgbClr val="1E2B24"/>
                </a:solidFill>
                <a:latin typeface="Calibri"/>
              </a:rPr>
              <a:t>One eye  </a:t>
            </a:r>
            <a:r>
              <a:rPr sz="1400" b="0" i="0">
                <a:solidFill>
                  <a:srgbClr val="5F6B64"/>
                </a:solidFill>
                <a:latin typeface="Calibri"/>
              </a:rPr>
              <a:t>drone only, a small citrus grove</a:t>
            </a:r>
          </a:p>
        </p:txBody>
      </p:sp>
      <p:pic>
        <p:nvPicPr>
          <p:cNvPr id="7" name="Picture 6" descr="citrus_page.png"/>
          <p:cNvPicPr>
            <a:picLocks noChangeAspect="1"/>
          </p:cNvPicPr>
          <p:nvPr/>
        </p:nvPicPr>
        <p:blipFill>
          <a:blip r:embed="rId3"/>
          <a:stretch>
            <a:fillRect/>
          </a:stretch>
        </p:blipFill>
        <p:spPr>
          <a:xfrm>
            <a:off x="6492240" y="2057400"/>
            <a:ext cx="5135270" cy="3566160"/>
          </a:xfrm>
          <a:prstGeom prst="rect">
            <a:avLst/>
          </a:prstGeom>
          <a:ln w="9525">
            <a:solidFill>
              <a:srgbClr val="D5DCD6"/>
            </a:solidFill>
          </a:ln>
        </p:spPr>
      </p:pic>
      <p:sp>
        <p:nvSpPr>
          <p:cNvPr id="8" name="TextBox 7"/>
          <p:cNvSpPr txBox="1"/>
          <p:nvPr/>
        </p:nvSpPr>
        <p:spPr>
          <a:xfrm>
            <a:off x="6492240" y="5733288"/>
            <a:ext cx="5150815" cy="640080"/>
          </a:xfrm>
          <a:prstGeom prst="rect">
            <a:avLst/>
          </a:prstGeom>
          <a:noFill/>
        </p:spPr>
        <p:txBody>
          <a:bodyPr wrap="square" anchor="t" lIns="0" rIns="0" tIns="0" bIns="0">
            <a:spAutoFit/>
          </a:bodyPr>
          <a:lstStyle/>
          <a:p>
            <a:pPr algn="l">
              <a:lnSpc>
                <a:spcPct val="100000"/>
              </a:lnSpc>
              <a:spcAft>
                <a:spcPts val="0"/>
              </a:spcAft>
            </a:pPr>
            <a:r>
              <a:rPr sz="1200" b="0" i="0">
                <a:solidFill>
                  <a:srgbClr val="5F6B64"/>
                </a:solidFill>
                <a:latin typeface="Calibri"/>
              </a:rPr>
              <a:t>Too small for the satellite to see. The page says so plainly instead of leaving a gap.</a:t>
            </a:r>
          </a:p>
        </p:txBody>
      </p:sp>
      <p:sp>
        <p:nvSpPr>
          <p:cNvPr id="9" name="Oval 8"/>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17</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Who flies the drone? Nobody has to.</a:t>
            </a:r>
          </a:p>
        </p:txBody>
      </p:sp>
      <p:sp>
        <p:nvSpPr>
          <p:cNvPr id="4" name="TextBox 3"/>
          <p:cNvSpPr txBox="1"/>
          <p:nvPr/>
        </p:nvSpPr>
        <p:spPr>
          <a:xfrm>
            <a:off x="548640" y="1691640"/>
            <a:ext cx="4206240" cy="1280160"/>
          </a:xfrm>
          <a:prstGeom prst="rect">
            <a:avLst/>
          </a:prstGeom>
          <a:noFill/>
        </p:spPr>
        <p:txBody>
          <a:bodyPr wrap="square" anchor="t" lIns="0" rIns="0" tIns="0" bIns="0">
            <a:spAutoFit/>
          </a:bodyPr>
          <a:lstStyle/>
          <a:p>
            <a:pPr algn="l">
              <a:lnSpc>
                <a:spcPct val="105000"/>
              </a:lnSpc>
              <a:spcAft>
                <a:spcPts val="0"/>
              </a:spcAft>
            </a:pPr>
            <a:r>
              <a:rPr sz="8800" b="1" i="0">
                <a:solidFill>
                  <a:srgbClr val="B8472A"/>
                </a:solidFill>
                <a:latin typeface="Century Schoolbook"/>
              </a:rPr>
              <a:t>$175</a:t>
            </a:r>
          </a:p>
        </p:txBody>
      </p:sp>
      <p:sp>
        <p:nvSpPr>
          <p:cNvPr id="5" name="TextBox 4"/>
          <p:cNvSpPr txBox="1"/>
          <p:nvPr/>
        </p:nvSpPr>
        <p:spPr>
          <a:xfrm>
            <a:off x="548640" y="3108960"/>
            <a:ext cx="3931920" cy="2194560"/>
          </a:xfrm>
          <a:prstGeom prst="rect">
            <a:avLst/>
          </a:prstGeom>
          <a:noFill/>
        </p:spPr>
        <p:txBody>
          <a:bodyPr wrap="square" anchor="t" lIns="0" rIns="0" tIns="0" bIns="0">
            <a:spAutoFit/>
          </a:bodyPr>
          <a:lstStyle/>
          <a:p>
            <a:pPr algn="l">
              <a:lnSpc>
                <a:spcPct val="110000"/>
              </a:lnSpc>
              <a:spcAft>
                <a:spcPts val="1000"/>
              </a:spcAft>
            </a:pPr>
            <a:r>
              <a:rPr sz="1800" b="1" i="0">
                <a:solidFill>
                  <a:srgbClr val="1E2B24"/>
                </a:solidFill>
                <a:latin typeface="Calibri"/>
              </a:rPr>
              <a:t>The FAA Part 107 exam to fly a drone for your farm. Not thousands.</a:t>
            </a:r>
          </a:p>
          <a:p>
            <a:pPr algn="l">
              <a:lnSpc>
                <a:spcPct val="110000"/>
              </a:lnSpc>
              <a:spcAft>
                <a:spcPts val="0"/>
              </a:spcAft>
            </a:pPr>
            <a:r>
              <a:rPr sz="1500" b="0" i="0">
                <a:solidFill>
                  <a:srgbClr val="5F6B64"/>
                </a:solidFill>
                <a:latin typeface="Calibri"/>
              </a:rPr>
              <a:t>The expensive licence is Part 137, for spraying. Dos Ojos never sprays.</a:t>
            </a:r>
          </a:p>
        </p:txBody>
      </p:sp>
      <p:sp>
        <p:nvSpPr>
          <p:cNvPr id="6" name="Oval 5"/>
          <p:cNvSpPr/>
          <p:nvPr/>
        </p:nvSpPr>
        <p:spPr>
          <a:xfrm>
            <a:off x="5257800" y="1746504"/>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0" y="1691640"/>
            <a:ext cx="597377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Satellite only: nobody flies</a:t>
            </a:r>
          </a:p>
          <a:p>
            <a:pPr algn="l">
              <a:lnSpc>
                <a:spcPct val="108000"/>
              </a:lnSpc>
              <a:spcAft>
                <a:spcPts val="0"/>
              </a:spcAft>
            </a:pPr>
            <a:r>
              <a:rPr sz="1500" b="0" i="0">
                <a:solidFill>
                  <a:srgbClr val="5F6B64"/>
                </a:solidFill>
                <a:latin typeface="Calibri"/>
              </a:rPr>
              <a:t>Where everyone starts, and where most farmers will stay.</a:t>
            </a:r>
          </a:p>
        </p:txBody>
      </p:sp>
      <p:sp>
        <p:nvSpPr>
          <p:cNvPr id="8" name="Oval 7"/>
          <p:cNvSpPr/>
          <p:nvPr/>
        </p:nvSpPr>
        <p:spPr>
          <a:xfrm>
            <a:off x="5257800" y="3118104"/>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3063240"/>
            <a:ext cx="597377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Fly your own</a:t>
            </a:r>
          </a:p>
          <a:p>
            <a:pPr algn="l">
              <a:lnSpc>
                <a:spcPct val="108000"/>
              </a:lnSpc>
              <a:spcAft>
                <a:spcPts val="0"/>
              </a:spcAft>
            </a:pPr>
            <a:r>
              <a:rPr sz="1500" b="0" i="0">
                <a:solidFill>
                  <a:srgbClr val="5F6B64"/>
                </a:solidFill>
                <a:latin typeface="Calibri"/>
              </a:rPr>
              <a:t>By hand, or with a drone that flies its own route. Either way, it needs the licence.</a:t>
            </a:r>
          </a:p>
        </p:txBody>
      </p:sp>
      <p:sp>
        <p:nvSpPr>
          <p:cNvPr id="10" name="Oval 9"/>
          <p:cNvSpPr/>
          <p:nvPr/>
        </p:nvSpPr>
        <p:spPr>
          <a:xfrm>
            <a:off x="5257800" y="4489703"/>
            <a:ext cx="237744" cy="237744"/>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4434840"/>
            <a:ext cx="597377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One pilot, many farms</a:t>
            </a:r>
          </a:p>
          <a:p>
            <a:pPr algn="l">
              <a:lnSpc>
                <a:spcPct val="108000"/>
              </a:lnSpc>
              <a:spcAft>
                <a:spcPts val="0"/>
              </a:spcAft>
            </a:pPr>
            <a:r>
              <a:rPr sz="1500" b="0" i="0">
                <a:solidFill>
                  <a:srgbClr val="5F6B64"/>
                </a:solidFill>
                <a:latin typeface="Calibri"/>
              </a:rPr>
              <a:t>A co-op, ag retailer, crop consultant or college drone students. The satellite tells them which few fields need a visit this week.</a:t>
            </a:r>
          </a:p>
        </p:txBody>
      </p:sp>
      <p:sp>
        <p:nvSpPr>
          <p:cNvPr id="12" name="Oval 11"/>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18</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Checked against the tape measure</a:t>
            </a:r>
          </a:p>
        </p:txBody>
      </p:sp>
      <p:pic>
        <p:nvPicPr>
          <p:cNvPr id="4" name="Picture 3" descr="citrus_answer_key.png"/>
          <p:cNvPicPr>
            <a:picLocks noChangeAspect="1"/>
          </p:cNvPicPr>
          <p:nvPr/>
        </p:nvPicPr>
        <p:blipFill>
          <a:blip r:embed="rId2"/>
          <a:stretch>
            <a:fillRect/>
          </a:stretch>
        </p:blipFill>
        <p:spPr>
          <a:xfrm>
            <a:off x="548640" y="1600200"/>
            <a:ext cx="4389120" cy="4389120"/>
          </a:xfrm>
          <a:prstGeom prst="rect">
            <a:avLst/>
          </a:prstGeom>
          <a:ln w="9525">
            <a:solidFill>
              <a:srgbClr val="D5DCD6"/>
            </a:solidFill>
          </a:ln>
        </p:spPr>
      </p:pic>
      <p:sp>
        <p:nvSpPr>
          <p:cNvPr id="5" name="TextBox 4"/>
          <p:cNvSpPr txBox="1"/>
          <p:nvPr/>
        </p:nvSpPr>
        <p:spPr>
          <a:xfrm>
            <a:off x="548640" y="6080759"/>
            <a:ext cx="4389120" cy="457200"/>
          </a:xfrm>
          <a:prstGeom prst="rect">
            <a:avLst/>
          </a:prstGeom>
          <a:noFill/>
        </p:spPr>
        <p:txBody>
          <a:bodyPr wrap="square" anchor="t" lIns="0" rIns="0" tIns="0" bIns="0">
            <a:spAutoFit/>
          </a:bodyPr>
          <a:lstStyle/>
          <a:p>
            <a:pPr algn="l">
              <a:lnSpc>
                <a:spcPct val="100000"/>
              </a:lnSpc>
              <a:spcAft>
                <a:spcPts val="0"/>
              </a:spcAft>
            </a:pPr>
            <a:r>
              <a:rPr sz="1050" b="0" i="0">
                <a:solidFill>
                  <a:srgbClr val="5F6B64"/>
                </a:solidFill>
                <a:latin typeface="Calibri"/>
              </a:rPr>
              <a:t>USDA-ARS citrus trial, Fort Pierce, Florida. Public data.</a:t>
            </a:r>
          </a:p>
        </p:txBody>
      </p:sp>
      <p:sp>
        <p:nvSpPr>
          <p:cNvPr id="6" name="TextBox 5"/>
          <p:cNvSpPr txBox="1"/>
          <p:nvPr/>
        </p:nvSpPr>
        <p:spPr>
          <a:xfrm>
            <a:off x="5486399" y="1600200"/>
            <a:ext cx="6156655" cy="1371600"/>
          </a:xfrm>
          <a:prstGeom prst="rect">
            <a:avLst/>
          </a:prstGeom>
          <a:noFill/>
        </p:spPr>
        <p:txBody>
          <a:bodyPr wrap="square" anchor="t" lIns="0" rIns="0" tIns="0" bIns="0">
            <a:spAutoFit/>
          </a:bodyPr>
          <a:lstStyle/>
          <a:p>
            <a:pPr algn="l">
              <a:lnSpc>
                <a:spcPct val="105000"/>
              </a:lnSpc>
              <a:spcAft>
                <a:spcPts val="200"/>
              </a:spcAft>
            </a:pPr>
            <a:r>
              <a:rPr sz="4400" b="1" i="0">
                <a:solidFill>
                  <a:srgbClr val="1E2B24"/>
                </a:solidFill>
                <a:latin typeface="Century Schoolbook"/>
              </a:rPr>
              <a:t>206 trees</a:t>
            </a:r>
          </a:p>
          <a:p>
            <a:pPr algn="l">
              <a:lnSpc>
                <a:spcPct val="110000"/>
              </a:lnSpc>
              <a:spcAft>
                <a:spcPts val="0"/>
              </a:spcAft>
            </a:pPr>
            <a:r>
              <a:rPr sz="1600" b="0" i="0">
                <a:solidFill>
                  <a:srgbClr val="5F6B64"/>
                </a:solidFill>
                <a:latin typeface="Calibri"/>
              </a:rPr>
              <a:t>measured by hand by USDA scientists, then flown with a drone and scored.</a:t>
            </a:r>
          </a:p>
        </p:txBody>
      </p:sp>
      <p:sp>
        <p:nvSpPr>
          <p:cNvPr id="7" name="Oval 6"/>
          <p:cNvSpPr/>
          <p:nvPr/>
        </p:nvSpPr>
        <p:spPr>
          <a:xfrm>
            <a:off x="5486399" y="3255264"/>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79" y="3200400"/>
            <a:ext cx="574517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It mostly gets the order right</a:t>
            </a:r>
          </a:p>
          <a:p>
            <a:pPr algn="l">
              <a:lnSpc>
                <a:spcPct val="108000"/>
              </a:lnSpc>
              <a:spcAft>
                <a:spcPts val="0"/>
              </a:spcAft>
            </a:pPr>
            <a:r>
              <a:rPr sz="1500" b="0" i="0">
                <a:solidFill>
                  <a:srgbClr val="5F6B64"/>
                </a:solidFill>
                <a:latin typeface="Calibri"/>
              </a:rPr>
              <a:t>Taller trees read taller. Good for finding the weakest trees in a grove.</a:t>
            </a:r>
          </a:p>
        </p:txBody>
      </p:sp>
      <p:sp>
        <p:nvSpPr>
          <p:cNvPr id="9" name="Oval 8"/>
          <p:cNvSpPr/>
          <p:nvPr/>
        </p:nvSpPr>
        <p:spPr>
          <a:xfrm>
            <a:off x="5486399" y="4398264"/>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79" y="4343400"/>
            <a:ext cx="574517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It reads heights about 21% short</a:t>
            </a:r>
          </a:p>
          <a:p>
            <a:pPr algn="l">
              <a:lnSpc>
                <a:spcPct val="108000"/>
              </a:lnSpc>
              <a:spcAft>
                <a:spcPts val="0"/>
              </a:spcAft>
            </a:pPr>
            <a:r>
              <a:rPr sz="1500" b="0" i="0">
                <a:solidFill>
                  <a:srgbClr val="5F6B64"/>
                </a:solidFill>
                <a:latin typeface="Calibri"/>
              </a:rPr>
              <a:t>Better processing already cut that from 40%. We found it because we checked.</a:t>
            </a:r>
          </a:p>
        </p:txBody>
      </p:sp>
      <p:sp>
        <p:nvSpPr>
          <p:cNvPr id="11" name="Oval 10"/>
          <p:cNvSpPr/>
          <p:nvPr/>
        </p:nvSpPr>
        <p:spPr>
          <a:xfrm>
            <a:off x="5486399" y="5541264"/>
            <a:ext cx="237744" cy="237744"/>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79" y="5486400"/>
            <a:ext cx="5745175" cy="1463040"/>
          </a:xfrm>
          <a:prstGeom prst="rect">
            <a:avLst/>
          </a:prstGeom>
          <a:noFill/>
        </p:spPr>
        <p:txBody>
          <a:bodyPr wrap="square" anchor="t" lIns="0" rIns="0" tIns="0" bIns="0">
            <a:spAutoFit/>
          </a:bodyPr>
          <a:lstStyle/>
          <a:p>
            <a:pPr algn="l">
              <a:lnSpc>
                <a:spcPct val="105000"/>
              </a:lnSpc>
              <a:spcAft>
                <a:spcPts val="300"/>
              </a:spcAft>
            </a:pPr>
            <a:r>
              <a:rPr sz="1800" b="1" i="0">
                <a:solidFill>
                  <a:srgbClr val="1E2B24"/>
                </a:solidFill>
                <a:latin typeface="Calibri"/>
              </a:rPr>
              <a:t>So we say what it's good for</a:t>
            </a:r>
          </a:p>
          <a:p>
            <a:pPr algn="l">
              <a:lnSpc>
                <a:spcPct val="108000"/>
              </a:lnSpc>
              <a:spcAft>
                <a:spcPts val="0"/>
              </a:spcAft>
            </a:pPr>
            <a:r>
              <a:rPr sz="1500" b="0" i="0">
                <a:solidFill>
                  <a:srgbClr val="5F6B64"/>
                </a:solidFill>
                <a:latin typeface="Calibri"/>
              </a:rPr>
              <a:t>Comparing trees with each other, not measuring them to the inch.</a:t>
            </a:r>
          </a:p>
        </p:txBody>
      </p:sp>
      <p:sp>
        <p:nvSpPr>
          <p:cNvPr id="13" name="Oval 12"/>
          <p:cNvSpPr/>
          <p:nvPr/>
        </p:nvSpPr>
        <p:spPr>
          <a:xfrm>
            <a:off x="10801807" y="603504"/>
            <a:ext cx="365760" cy="365760"/>
          </a:xfrm>
          <a:prstGeom prst="ellipse">
            <a:avLst/>
          </a:prstGeom>
          <a:noFill/>
          <a:ln w="15875">
            <a:solidFill>
              <a:srgbClr val="D5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400800"/>
            <a:ext cx="548640" cy="274320"/>
          </a:xfrm>
          <a:prstGeom prst="rect">
            <a:avLst/>
          </a:prstGeom>
          <a:noFill/>
        </p:spPr>
        <p:txBody>
          <a:bodyPr wrap="none">
            <a:spAutoFit/>
          </a:bodyPr>
          <a:lstStyle/>
          <a:p>
            <a:pPr algn="r"/>
            <a:r>
              <a:rPr sz="1000" b="0" i="0">
                <a:solidFill>
                  <a:srgbClr val="5F6B64"/>
                </a:solidFill>
                <a:latin typeface="Calibri"/>
              </a:rPr>
              <a:t>19</a:t>
            </a:r>
          </a:p>
        </p:txBody>
      </p:sp>
      <p:sp>
        <p:nvSpPr>
          <p:cNvPr id="3" name="TextBox 2"/>
          <p:cNvSpPr txBox="1"/>
          <p:nvPr/>
        </p:nvSpPr>
        <p:spPr>
          <a:xfrm>
            <a:off x="548640" y="502920"/>
            <a:ext cx="8778240" cy="868680"/>
          </a:xfrm>
          <a:prstGeom prst="rect">
            <a:avLst/>
          </a:prstGeom>
          <a:noFill/>
        </p:spPr>
        <p:txBody>
          <a:bodyPr wrap="square" anchor="t" lIns="0" rIns="0" tIns="0" bIns="0">
            <a:spAutoFit/>
          </a:bodyPr>
          <a:lstStyle/>
          <a:p>
            <a:pPr algn="l">
              <a:lnSpc>
                <a:spcPct val="105000"/>
              </a:lnSpc>
              <a:spcAft>
                <a:spcPts val="0"/>
              </a:spcAft>
            </a:pPr>
            <a:r>
              <a:rPr sz="3400" b="1" i="0">
                <a:solidFill>
                  <a:srgbClr val="1E2B24"/>
                </a:solidFill>
                <a:latin typeface="Century Schoolbook"/>
              </a:rPr>
              <a:t>What's next</a:t>
            </a:r>
          </a:p>
        </p:txBody>
      </p:sp>
      <p:sp>
        <p:nvSpPr>
          <p:cNvPr id="4" name="TextBox 3"/>
          <p:cNvSpPr txBox="1"/>
          <p:nvPr/>
        </p:nvSpPr>
        <p:spPr>
          <a:xfrm>
            <a:off x="548640" y="1554480"/>
            <a:ext cx="11094415" cy="1463040"/>
          </a:xfrm>
          <a:prstGeom prst="rect">
            <a:avLst/>
          </a:prstGeom>
          <a:noFill/>
        </p:spPr>
        <p:txBody>
          <a:bodyPr wrap="square" anchor="t" lIns="0" rIns="0" tIns="0" bIns="0">
            <a:spAutoFit/>
          </a:bodyPr>
          <a:lstStyle/>
          <a:p>
            <a:pPr algn="l">
              <a:lnSpc>
                <a:spcPct val="115000"/>
              </a:lnSpc>
              <a:spcAft>
                <a:spcPts val="0"/>
              </a:spcAft>
            </a:pPr>
            <a:r>
              <a:rPr sz="1700" b="0" i="0">
                <a:solidFill>
                  <a:srgbClr val="5F6B64"/>
                </a:solidFill>
                <a:latin typeface="Calibri"/>
              </a:rPr>
              <a:t>All of it runs today: the satellite, the water account, sorghum stages and pests, a real drone flight and a real thermal scan, and the text messages around them — on free public data, because we have flown nothing ourselves yet.</a:t>
            </a:r>
          </a:p>
          <a:p>
            <a:pPr algn="l">
              <a:lnSpc>
                <a:spcPct val="105000"/>
              </a:lnSpc>
              <a:spcAft>
                <a:spcPts val="0"/>
              </a:spcAft>
            </a:pPr>
            <a:r>
              <a:rPr sz="1900" b="1" i="0">
                <a:solidFill>
                  <a:srgbClr val="1E2B24"/>
                </a:solidFill>
                <a:latin typeface="Century Schoolbook"/>
              </a:rPr>
              <a:t>What is left is what it takes to reach farms.</a:t>
            </a:r>
          </a:p>
        </p:txBody>
      </p:sp>
      <p:sp>
        <p:nvSpPr>
          <p:cNvPr id="5" name="Oval 4"/>
          <p:cNvSpPr/>
          <p:nvPr/>
        </p:nvSpPr>
        <p:spPr>
          <a:xfrm>
            <a:off x="548640" y="4901183"/>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846320"/>
            <a:ext cx="2122093"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A camera in the Valley</a:t>
            </a:r>
          </a:p>
          <a:p>
            <a:pPr algn="l">
              <a:lnSpc>
                <a:spcPct val="108000"/>
              </a:lnSpc>
              <a:spcAft>
                <a:spcPts val="0"/>
              </a:spcAft>
            </a:pPr>
            <a:r>
              <a:rPr sz="1350" b="0" i="0">
                <a:solidFill>
                  <a:srgbClr val="5F6B64"/>
                </a:solidFill>
                <a:latin typeface="Calibri"/>
              </a:rPr>
              <a:t>The thermal step works on real research data from Arizona. Next: a thermal flight over a Valley field.</a:t>
            </a:r>
          </a:p>
        </p:txBody>
      </p:sp>
      <p:sp>
        <p:nvSpPr>
          <p:cNvPr id="7" name="Oval 6"/>
          <p:cNvSpPr/>
          <p:nvPr/>
        </p:nvSpPr>
        <p:spPr>
          <a:xfrm>
            <a:off x="3402253" y="4901183"/>
            <a:ext cx="237744" cy="237744"/>
          </a:xfrm>
          <a:prstGeom prst="ellipse">
            <a:avLst/>
          </a:prstGeom>
          <a:solidFill>
            <a:srgbClr val="15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3733" y="4846320"/>
            <a:ext cx="2122093"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A real phone number</a:t>
            </a:r>
          </a:p>
          <a:p>
            <a:pPr algn="l">
              <a:lnSpc>
                <a:spcPct val="108000"/>
              </a:lnSpc>
              <a:spcAft>
                <a:spcPts val="0"/>
              </a:spcAft>
            </a:pPr>
            <a:r>
              <a:rPr sz="1350" b="0" i="0">
                <a:solidFill>
                  <a:srgbClr val="5F6B64"/>
                </a:solidFill>
                <a:latin typeface="Calibri"/>
              </a:rPr>
              <a:t>Connect the text messages to a live number.</a:t>
            </a:r>
          </a:p>
        </p:txBody>
      </p:sp>
      <p:sp>
        <p:nvSpPr>
          <p:cNvPr id="9" name="Oval 8"/>
          <p:cNvSpPr/>
          <p:nvPr/>
        </p:nvSpPr>
        <p:spPr>
          <a:xfrm>
            <a:off x="6255867" y="4901183"/>
            <a:ext cx="237744" cy="237744"/>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67347" y="4846320"/>
            <a:ext cx="2122093"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First Valley farms</a:t>
            </a:r>
          </a:p>
          <a:p>
            <a:pPr algn="l">
              <a:lnSpc>
                <a:spcPct val="108000"/>
              </a:lnSpc>
              <a:spcAft>
                <a:spcPts val="0"/>
              </a:spcAft>
            </a:pPr>
            <a:r>
              <a:rPr sz="1350" b="0" i="0">
                <a:solidFill>
                  <a:srgbClr val="5F6B64"/>
                </a:solidFill>
                <a:latin typeface="Calibri"/>
              </a:rPr>
              <a:t>Try it with growers, in Spanish and English.</a:t>
            </a:r>
          </a:p>
        </p:txBody>
      </p:sp>
      <p:sp>
        <p:nvSpPr>
          <p:cNvPr id="11" name="Oval 10"/>
          <p:cNvSpPr/>
          <p:nvPr/>
        </p:nvSpPr>
        <p:spPr>
          <a:xfrm>
            <a:off x="9109481" y="4901183"/>
            <a:ext cx="237744" cy="237744"/>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20961" y="4846320"/>
            <a:ext cx="2122093" cy="1463040"/>
          </a:xfrm>
          <a:prstGeom prst="rect">
            <a:avLst/>
          </a:prstGeom>
          <a:noFill/>
        </p:spPr>
        <p:txBody>
          <a:bodyPr wrap="square" anchor="t" lIns="0" rIns="0" tIns="0" bIns="0">
            <a:spAutoFit/>
          </a:bodyPr>
          <a:lstStyle/>
          <a:p>
            <a:pPr algn="l">
              <a:lnSpc>
                <a:spcPct val="105000"/>
              </a:lnSpc>
              <a:spcAft>
                <a:spcPts val="300"/>
              </a:spcAft>
            </a:pPr>
            <a:r>
              <a:rPr sz="1600" b="1" i="0">
                <a:solidFill>
                  <a:srgbClr val="1E2B24"/>
                </a:solidFill>
                <a:latin typeface="Calibri"/>
              </a:rPr>
              <a:t>Routes for pilots</a:t>
            </a:r>
          </a:p>
          <a:p>
            <a:pPr algn="l">
              <a:lnSpc>
                <a:spcPct val="108000"/>
              </a:lnSpc>
              <a:spcAft>
                <a:spcPts val="0"/>
              </a:spcAft>
            </a:pPr>
            <a:r>
              <a:rPr sz="1350" b="0" i="0">
                <a:solidFill>
                  <a:srgbClr val="5F6B64"/>
                </a:solidFill>
                <a:latin typeface="Calibri"/>
              </a:rPr>
              <a:t>Hand a pilot a ready-made flight plan for each field.</a:t>
            </a:r>
          </a:p>
        </p:txBody>
      </p:sp>
      <p:sp>
        <p:nvSpPr>
          <p:cNvPr id="13" name="Oval 12"/>
          <p:cNvSpPr/>
          <p:nvPr/>
        </p:nvSpPr>
        <p:spPr>
          <a:xfrm>
            <a:off x="10801807" y="603504"/>
            <a:ext cx="365760" cy="36576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77295" y="603504"/>
            <a:ext cx="365760" cy="36576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B24"/>
        </a:solidFill>
        <a:effectLst/>
      </p:bgPr>
    </p:bg>
    <p:spTree>
      <p:nvGrpSpPr>
        <p:cNvPr id="1" name=""/>
        <p:cNvGrpSpPr/>
        <p:nvPr/>
      </p:nvGrpSpPr>
      <p:grpSpPr/>
      <p:sp>
        <p:nvSpPr>
          <p:cNvPr id="2" name="Oval 1"/>
          <p:cNvSpPr/>
          <p:nvPr/>
        </p:nvSpPr>
        <p:spPr>
          <a:xfrm>
            <a:off x="548640" y="1234440"/>
            <a:ext cx="914400" cy="914400"/>
          </a:xfrm>
          <a:prstGeom prst="ellipse">
            <a:avLst/>
          </a:prstGeom>
          <a:solidFill>
            <a:srgbClr val="2E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27631" y="1234440"/>
            <a:ext cx="914400" cy="914400"/>
          </a:xfrm>
          <a:prstGeom prst="ellipse">
            <a:avLst/>
          </a:prstGeom>
          <a:solidFill>
            <a:srgbClr val="B8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0"/>
            <a:ext cx="10515600" cy="1097280"/>
          </a:xfrm>
          <a:prstGeom prst="rect">
            <a:avLst/>
          </a:prstGeom>
          <a:noFill/>
        </p:spPr>
        <p:txBody>
          <a:bodyPr wrap="square" anchor="t" lIns="0" rIns="0" tIns="0" bIns="0">
            <a:spAutoFit/>
          </a:bodyPr>
          <a:lstStyle/>
          <a:p>
            <a:pPr algn="l">
              <a:lnSpc>
                <a:spcPct val="105000"/>
              </a:lnSpc>
              <a:spcAft>
                <a:spcPts val="0"/>
              </a:spcAft>
            </a:pPr>
            <a:r>
              <a:rPr sz="6400" b="1" i="0">
                <a:solidFill>
                  <a:srgbClr val="F2F5F1"/>
                </a:solidFill>
                <a:latin typeface="Century Schoolbook"/>
              </a:rPr>
              <a:t>Dos Ojos</a:t>
            </a:r>
          </a:p>
        </p:txBody>
      </p:sp>
      <p:sp>
        <p:nvSpPr>
          <p:cNvPr id="5" name="TextBox 4"/>
          <p:cNvSpPr txBox="1"/>
          <p:nvPr/>
        </p:nvSpPr>
        <p:spPr>
          <a:xfrm>
            <a:off x="548640" y="3520440"/>
            <a:ext cx="10515600" cy="640080"/>
          </a:xfrm>
          <a:prstGeom prst="rect">
            <a:avLst/>
          </a:prstGeom>
          <a:noFill/>
        </p:spPr>
        <p:txBody>
          <a:bodyPr wrap="square" anchor="t" lIns="0" rIns="0" tIns="0" bIns="0">
            <a:spAutoFit/>
          </a:bodyPr>
          <a:lstStyle/>
          <a:p>
            <a:pPr algn="l">
              <a:lnSpc>
                <a:spcPct val="105000"/>
              </a:lnSpc>
              <a:spcAft>
                <a:spcPts val="0"/>
              </a:spcAft>
            </a:pPr>
            <a:r>
              <a:rPr sz="2800" b="0" i="0">
                <a:solidFill>
                  <a:srgbClr val="A9B8AE"/>
                </a:solidFill>
                <a:latin typeface="Century Schoolbook"/>
              </a:rPr>
              <a:t>Two eyes on every field.</a:t>
            </a:r>
          </a:p>
        </p:txBody>
      </p:sp>
      <p:sp>
        <p:nvSpPr>
          <p:cNvPr id="6" name="TextBox 5"/>
          <p:cNvSpPr txBox="1"/>
          <p:nvPr/>
        </p:nvSpPr>
        <p:spPr>
          <a:xfrm>
            <a:off x="548640" y="4434840"/>
            <a:ext cx="10515600" cy="640080"/>
          </a:xfrm>
          <a:prstGeom prst="rect">
            <a:avLst/>
          </a:prstGeom>
          <a:noFill/>
        </p:spPr>
        <p:txBody>
          <a:bodyPr wrap="square" anchor="t" lIns="0" rIns="0" tIns="0" bIns="0">
            <a:spAutoFit/>
          </a:bodyPr>
          <a:lstStyle/>
          <a:p>
            <a:pPr algn="l">
              <a:lnSpc>
                <a:spcPct val="105000"/>
              </a:lnSpc>
              <a:spcAft>
                <a:spcPts val="0"/>
              </a:spcAft>
            </a:pPr>
            <a:r>
              <a:rPr sz="2600" b="1" i="0">
                <a:solidFill>
                  <a:srgbClr val="F2F5F1"/>
                </a:solidFill>
                <a:latin typeface="Calibri"/>
              </a:rPr>
              <a:t>Questions?</a:t>
            </a:r>
          </a:p>
        </p:txBody>
      </p:sp>
      <p:sp>
        <p:nvSpPr>
          <p:cNvPr id="7" name="TextBox 6"/>
          <p:cNvSpPr txBox="1"/>
          <p:nvPr/>
        </p:nvSpPr>
        <p:spPr>
          <a:xfrm>
            <a:off x="548640" y="5806440"/>
            <a:ext cx="11094415" cy="640080"/>
          </a:xfrm>
          <a:prstGeom prst="rect">
            <a:avLst/>
          </a:prstGeom>
          <a:noFill/>
        </p:spPr>
        <p:txBody>
          <a:bodyPr wrap="square" anchor="t" lIns="0" rIns="0" tIns="0" bIns="0">
            <a:spAutoFit/>
          </a:bodyPr>
          <a:lstStyle/>
          <a:p>
            <a:pPr algn="l">
              <a:lnSpc>
                <a:spcPct val="105000"/>
              </a:lnSpc>
              <a:spcAft>
                <a:spcPts val="0"/>
              </a:spcAft>
            </a:pPr>
            <a:r>
              <a:rPr sz="1100" b="0" i="0">
                <a:solidFill>
                  <a:srgbClr val="A9B8AE"/>
                </a:solidFill>
                <a:latin typeface="Calibri"/>
              </a:rPr>
              <a:t>Public data used: Sentinel-2 (Copernicus), USDA soil survey, gridMET weather, USGS 3DEP lidar, Purdue University, USDA-ARS Fort Pierce, TERRA-REF. The farmers in the demo are made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